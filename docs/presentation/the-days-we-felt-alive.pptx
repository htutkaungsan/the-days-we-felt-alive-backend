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b773b220c0640aa" /><Relationship Type="http://schemas.openxmlformats.org/officeDocument/2006/relationships/extended-properties" Target="/docProps/app.xml" Id="R59403ab0ca0947f2" /><Relationship Type="http://schemas.openxmlformats.org/officeDocument/2006/relationships/officeDocument" Target="/ppt/presentation.xml" Id="R99b1fc41fc914877" /></Relationships>
</file>

<file path=ppt/presentation.xml><?xml version="1.0" encoding="utf-8"?>
<p:presentation xmlns:p="http://schemas.openxmlformats.org/presentationml/2006/main">
  <p:sldMasterIdLst>
    <p:sldMasterId xmlns:r="http://schemas.openxmlformats.org/officeDocument/2006/relationships" id="2147483648" r:id="R9dd33e97e923421e"/>
  </p:sldMasterIdLst>
  <p:notesMasterIdLst>
    <p:notesMasterId xmlns:r="http://schemas.openxmlformats.org/officeDocument/2006/relationships" r:id="R00b9eec00ed64be3"/>
  </p:notesMasterIdLst>
  <p:sldIdLst>
    <p:sldId xmlns:r="http://schemas.openxmlformats.org/officeDocument/2006/relationships" id="256" r:id="Rf56633ae4a774204"/>
    <p:sldId xmlns:r="http://schemas.openxmlformats.org/officeDocument/2006/relationships" id="257" r:id="Rfe3180bc991540bd"/>
    <p:sldId xmlns:r="http://schemas.openxmlformats.org/officeDocument/2006/relationships" id="258" r:id="R088b8b30decb47f3"/>
    <p:sldId xmlns:r="http://schemas.openxmlformats.org/officeDocument/2006/relationships" id="259" r:id="Rdddd9416f5744eba"/>
    <p:sldId xmlns:r="http://schemas.openxmlformats.org/officeDocument/2006/relationships" id="260" r:id="R2c77168193234e6b"/>
    <p:sldId xmlns:r="http://schemas.openxmlformats.org/officeDocument/2006/relationships" id="261" r:id="R6bbb278db5674055"/>
    <p:sldId xmlns:r="http://schemas.openxmlformats.org/officeDocument/2006/relationships" id="262" r:id="R108f4865d0404449"/>
    <p:sldId xmlns:r="http://schemas.openxmlformats.org/officeDocument/2006/relationships" id="263" r:id="R7358ba7fb642477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2a6548029f14b66" /><Relationship Type="http://schemas.openxmlformats.org/officeDocument/2006/relationships/slideMaster" Target="/ppt/slideMasters/slideMaster1.xml" Id="R9dd33e97e923421e" /><Relationship Type="http://schemas.openxmlformats.org/officeDocument/2006/relationships/notesMaster" Target="/ppt/notesMasters/notesMaster1.xml" Id="R00b9eec00ed64be3" /><Relationship Type="http://schemas.openxmlformats.org/officeDocument/2006/relationships/presProps" Target="/ppt/presProps.xml" Id="R696c63aedb384b6d" /><Relationship Type="http://schemas.openxmlformats.org/officeDocument/2006/relationships/tableStyles" Target="/ppt/tableStyles.xml" Id="R908bf02827634f05" /><Relationship Type="http://schemas.openxmlformats.org/officeDocument/2006/relationships/slide" Target="/ppt/slides/slide1.xml" Id="Rf56633ae4a774204" /><Relationship Type="http://schemas.openxmlformats.org/officeDocument/2006/relationships/slide" Target="/ppt/slides/slide2.xml" Id="Rfe3180bc991540bd" /><Relationship Type="http://schemas.openxmlformats.org/officeDocument/2006/relationships/slide" Target="/ppt/slides/slide3.xml" Id="R088b8b30decb47f3" /><Relationship Type="http://schemas.openxmlformats.org/officeDocument/2006/relationships/slide" Target="/ppt/slides/slide4.xml" Id="Rdddd9416f5744eba" /><Relationship Type="http://schemas.openxmlformats.org/officeDocument/2006/relationships/slide" Target="/ppt/slides/slide5.xml" Id="R2c77168193234e6b" /><Relationship Type="http://schemas.openxmlformats.org/officeDocument/2006/relationships/slide" Target="/ppt/slides/slide6.xml" Id="R6bbb278db5674055" /><Relationship Type="http://schemas.openxmlformats.org/officeDocument/2006/relationships/slide" Target="/ppt/slides/slide7.xml" Id="R108f4865d0404449" /><Relationship Type="http://schemas.openxmlformats.org/officeDocument/2006/relationships/slide" Target="/ppt/slides/slide8.xml" Id="R7358ba7fb642477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44a0c26bf8144d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f3c6019bf4f41c0" /><Relationship Type="http://schemas.openxmlformats.org/officeDocument/2006/relationships/notesMaster" Target="/ppt/notesMasters/notesMaster1.xml" Id="R94e9381f4c2b49f1" /></Relationships>
</file>

<file path=ppt/notesSlides/_rels/notesSlide2.xml.rels>&#65279;<?xml version="1.0" encoding="utf-8"?><Relationships xmlns="http://schemas.openxmlformats.org/package/2006/relationships"><Relationship Type="http://schemas.openxmlformats.org/officeDocument/2006/relationships/slide" Target="/ppt/slides/slide2.xml" Id="R6d87e97142f44ffb" /><Relationship Type="http://schemas.openxmlformats.org/officeDocument/2006/relationships/notesMaster" Target="/ppt/notesMasters/notesMaster1.xml" Id="Rafc13d1699a343e4" /></Relationships>
</file>

<file path=ppt/notesSlides/_rels/notesSlide3.xml.rels>&#65279;<?xml version="1.0" encoding="utf-8"?><Relationships xmlns="http://schemas.openxmlformats.org/package/2006/relationships"><Relationship Type="http://schemas.openxmlformats.org/officeDocument/2006/relationships/slide" Target="/ppt/slides/slide3.xml" Id="Rd7bd6459a6b84c79" /><Relationship Type="http://schemas.openxmlformats.org/officeDocument/2006/relationships/notesMaster" Target="/ppt/notesMasters/notesMaster1.xml" Id="R5ad8f1ec40ef4534" /></Relationships>
</file>

<file path=ppt/notesSlides/_rels/notesSlide4.xml.rels>&#65279;<?xml version="1.0" encoding="utf-8"?><Relationships xmlns="http://schemas.openxmlformats.org/package/2006/relationships"><Relationship Type="http://schemas.openxmlformats.org/officeDocument/2006/relationships/slide" Target="/ppt/slides/slide4.xml" Id="R67246c6e4f684d27" /><Relationship Type="http://schemas.openxmlformats.org/officeDocument/2006/relationships/notesMaster" Target="/ppt/notesMasters/notesMaster1.xml" Id="Rab12a100f3424f71" /></Relationships>
</file>

<file path=ppt/notesSlides/_rels/notesSlide5.xml.rels>&#65279;<?xml version="1.0" encoding="utf-8"?><Relationships xmlns="http://schemas.openxmlformats.org/package/2006/relationships"><Relationship Type="http://schemas.openxmlformats.org/officeDocument/2006/relationships/slide" Target="/ppt/slides/slide5.xml" Id="R513e6f53957e4755" /><Relationship Type="http://schemas.openxmlformats.org/officeDocument/2006/relationships/notesMaster" Target="/ppt/notesMasters/notesMaster1.xml" Id="R22512c05e0254e11" /></Relationships>
</file>

<file path=ppt/notesSlides/_rels/notesSlide6.xml.rels>&#65279;<?xml version="1.0" encoding="utf-8"?><Relationships xmlns="http://schemas.openxmlformats.org/package/2006/relationships"><Relationship Type="http://schemas.openxmlformats.org/officeDocument/2006/relationships/slide" Target="/ppt/slides/slide6.xml" Id="Rae870ffaaf524d15" /><Relationship Type="http://schemas.openxmlformats.org/officeDocument/2006/relationships/notesMaster" Target="/ppt/notesMasters/notesMaster1.xml" Id="R87d053df8ff440e0" /></Relationships>
</file>

<file path=ppt/notesSlides/_rels/notesSlide7.xml.rels>&#65279;<?xml version="1.0" encoding="utf-8"?><Relationships xmlns="http://schemas.openxmlformats.org/package/2006/relationships"><Relationship Type="http://schemas.openxmlformats.org/officeDocument/2006/relationships/slide" Target="/ppt/slides/slide7.xml" Id="Re26732845543482b" /><Relationship Type="http://schemas.openxmlformats.org/officeDocument/2006/relationships/notesMaster" Target="/ppt/notesMasters/notesMaster1.xml" Id="Rb670c9905d1f4276" /></Relationships>
</file>

<file path=ppt/notesSlides/_rels/notesSlide8.xml.rels>&#65279;<?xml version="1.0" encoding="utf-8"?><Relationships xmlns="http://schemas.openxmlformats.org/package/2006/relationships"><Relationship Type="http://schemas.openxmlformats.org/officeDocument/2006/relationships/slide" Target="/ppt/slides/slide8.xml" Id="R1b619f4212da4e6b" /><Relationship Type="http://schemas.openxmlformats.org/officeDocument/2006/relationships/notesMaster" Target="/ppt/notesMasters/notesMaster1.xml" Id="Ra2ac554358fc431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small rental shop. The backend is the course deliverable. A separate Angular frontend demonstrates the real customer and admin workflow. Assignment source: 217- Final Project Assignment.pdf, supplied by the student.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category and format are different. Music/movie is category and CD/DVD is format. Online confirmation starts a rental and reserves stock immediately. Collection and return happen at the shop. Fees represent charges, not payments.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Angular runs in the browser. Nginx serves the built frontend and forwards same-origin API requests. Express and MySQL share a Docker bridge network. No MySQL port is published. The API can also be tested directly on localhost:3017. Routes, controllers and models form a simple layered application. Data and JSON responses return along the same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tables keep this small system easy to explain. Admin/customer roles share users. Each rental has exactly one customer and one media. A customer or media may have zero or many rentals. The two 1:N relationships resolve an N:M relationship. Password hashes remain internal. Rates and final charges live in rentals so changing catalog prices never rewrites an old rental. SQL contains the complete column types and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media CRUD and customer CRUD in the demo. PATCH changes only supplied fields. Delete physically removes records with no rental history. Otherwise it archives/deactivates. Active rentals block deletion. Successful creation uses 201 and normal reads/updates use 200. Invalid inputs use 400, missing auth 401, wrong permissions 403, missing records 404 and stock conflicts 409. Source: backend README API summary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Tokens use HS256 with pinned issuer and audience and expire after two hours. The backend checks account activation and role from the database on each request. Explain the discovered concurrency issue: READ COMMITTED prevents the transaction from counting old snapshot data after waiting for a lock. The customer lock serializes duplicate request-key retries and the media lock serializes stock allocation. The unique key is also a database constraint. Rate snapshots protect old charges.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the command separately in backend and frontend, in that order. Backend supports a local classroom demo with safe localhost bindings and sample environment values. Replace secrets before remote hosting. .env stays out of Git. docker compose down preserves the volume. Adding -v would delete it, so do not do that during the presentation. The database is private inside Docker.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Follow docs/demo-guide.md for the 5–7 minute presentation. Automated scenarios include two date/fee tests and five MySQL integration tests. The integration suite uses its own disposable alive_test database at port 3308. Tests cover CRUD, invalid JWTs, ownership, concurrency, retries, overdue/on-time fees, repeated returns and preserving history. Show docs/verification.md for exact local evidence. No public deployment or payment collection is part of the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9cbc74c2cf6407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6b124b09c3c48f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3f247d977e7455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aa2967614244ed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8d7242da0f54db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8dee05376324fb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6A6708D-F80F-4C03-9D26-9631B58EB06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7D6D6F3-B193-4DC4-9323-AB9437EAD38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09B07DB-45B4-4D15-94AA-EFD4B38CA1F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7FB3628-C500-4F40-B66A-FEE698D47C1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4A484D3-E10D-4E78-A53F-B19DFD2AEC5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13AB856-E41E-4F2D-9B8D-AF99C6885A2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BCF62AC-AAFE-4C3C-AF8D-FBAA882C9E3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5C29425-BBC1-464D-8F7F-916AA0B723C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129B99A-4BC1-43E9-8F4D-55568D68639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B562551-0CC5-44B4-8481-9EDA27634B9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aa7fe3f745c4f78" /><Relationship Type="http://schemas.openxmlformats.org/officeDocument/2006/relationships/slideLayout" Target="/ppt/slideLayouts/slideLayout1.xml" Id="R09fe313d7a494571" /><Relationship Type="http://schemas.openxmlformats.org/officeDocument/2006/relationships/slideLayout" Target="/ppt/slideLayouts/slideLayout2.xml" Id="Rb92e6f758add4cb4" /><Relationship Type="http://schemas.openxmlformats.org/officeDocument/2006/relationships/slideLayout" Target="/ppt/slideLayouts/slideLayout3.xml" Id="Rfa3a1377e10841e0" /><Relationship Type="http://schemas.openxmlformats.org/officeDocument/2006/relationships/slideLayout" Target="/ppt/slideLayouts/slideLayout4.xml" Id="Ra3792eda450b4ada" /><Relationship Type="http://schemas.openxmlformats.org/officeDocument/2006/relationships/slideLayout" Target="/ppt/slideLayouts/slideLayout5.xml" Id="R7af01917c6bd4783" /><Relationship Type="http://schemas.openxmlformats.org/officeDocument/2006/relationships/slideLayout" Target="/ppt/slideLayouts/slideLayout6.xml" Id="R29fd04aca502400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9fe313d7a494571"/>
    <p:sldLayoutId xmlns:r="http://schemas.openxmlformats.org/officeDocument/2006/relationships" id="2147483650" r:id="Rb92e6f758add4cb4"/>
    <p:sldLayoutId xmlns:r="http://schemas.openxmlformats.org/officeDocument/2006/relationships" id="2147483651" r:id="Rfa3a1377e10841e0"/>
    <p:sldLayoutId xmlns:r="http://schemas.openxmlformats.org/officeDocument/2006/relationships" id="2147483652" r:id="Ra3792eda450b4ada"/>
    <p:sldLayoutId xmlns:r="http://schemas.openxmlformats.org/officeDocument/2006/relationships" id="2147483653" r:id="R7af01917c6bd4783"/>
    <p:sldLayoutId xmlns:r="http://schemas.openxmlformats.org/officeDocument/2006/relationships" id="2147483654" r:id="R29fd04aca502400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493619d8f684e8f" /><Relationship Type="http://schemas.openxmlformats.org/officeDocument/2006/relationships/notesSlide" Target="/ppt/notesSlides/notesSlide1.xml" Id="R2b5c408408c3449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8f2e782ebb54c6c" /><Relationship Type="http://schemas.openxmlformats.org/officeDocument/2006/relationships/notesSlide" Target="/ppt/notesSlides/notesSlide2.xml" Id="R3c1ad8a1b84e463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112f9afc3f34217" /><Relationship Type="http://schemas.openxmlformats.org/officeDocument/2006/relationships/notesSlide" Target="/ppt/notesSlides/notesSlide3.xml" Id="Ra87496c29189405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08010a761bd4cff" /><Relationship Type="http://schemas.openxmlformats.org/officeDocument/2006/relationships/notesSlide" Target="/ppt/notesSlides/notesSlide4.xml" Id="R649dc31397894b9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62eed2a382d43c2" /><Relationship Type="http://schemas.openxmlformats.org/officeDocument/2006/relationships/notesSlide" Target="/ppt/notesSlides/notesSlide5.xml" Id="R00abac7b635d453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aebd4aa10bf495c" /><Relationship Type="http://schemas.openxmlformats.org/officeDocument/2006/relationships/notesSlide" Target="/ppt/notesSlides/notesSlide6.xml" Id="Rb083ff39954a43a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f5cf39905ec45fa" /><Relationship Type="http://schemas.openxmlformats.org/officeDocument/2006/relationships/notesSlide" Target="/ppt/notesSlides/notesSlide7.xml" Id="R563f3e33d5ee41b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2b59a7549d74dfe" /><Relationship Type="http://schemas.openxmlformats.org/officeDocument/2006/relationships/notesSlide" Target="/ppt/notesSlides/notesSlide8.xml" Id="R4f44c20001554a48" /></Relationships>
</file>

<file path=ppt/slides/slide1.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2E02ED3-E9FF-46CD-89D7-553261E9DDF5}"/>
              </a:ext>
            </a:extLst>
          </p:cNvPr>
          <p:cNvSpPr>
            <a:spLocks xmlns:a="http://schemas.openxmlformats.org/drawingml/2006/main" noGrp="1"/>
          </p:cNvSpPr>
          <p:nvPr/>
        </p:nvSpPr>
        <p:spPr>
          <a:xfrm xmlns:a="http://schemas.openxmlformats.org/drawingml/2006/main">
            <a:off x="619125" y="5143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52D27"/>
                </a:solidFill>
                <a:latin typeface="Arial"/>
                <a:ea typeface="Arial"/>
                <a:cs typeface="Arial"/>
              </a:defRPr>
            </a:defPPr>
          </a:lstStyle>
          <a:p xmlns:a="http://schemas.openxmlformats.org/drawingml/2006/main">
            <a:pPr>
              <a:defRPr sz="3300" b="1">
                <a:solidFill>
                  <a:srgbClr val="252D27"/>
                </a:solidFill>
                <a:latin typeface="Arial"/>
                <a:ea typeface="Arial"/>
                <a:cs typeface="Arial"/>
              </a:defRPr>
            </a:pPr>
            <a:r>
              <a:rPr sz="3300" b="1">
                <a:solidFill>
                  <a:srgbClr val="252D27"/>
                </a:solidFill>
                <a:latin typeface="Arial"/>
                <a:ea typeface="Arial"/>
                <a:cs typeface="Arial"/>
              </a:rPr>
              <a:t>The Days We Felt Alive</a:t>
            </a:r>
          </a:p>
        </p:txBody>
      </p:sp>
      <p:sp>
        <p:nvSpPr>
          <p:cNvPr id="2" name="">
            <a:extLst xmlns:a="http://schemas.openxmlformats.org/drawingml/2006/main">
              <a:ext uri="{FF2B5EF4-FFF2-40B4-BE49-F238E27FC236}">
                <a16:creationId xmlns:a16="http://schemas.microsoft.com/office/drawing/2014/main" id="{C7DF65BF-82A2-4290-86F7-939111FF3A20}"/>
              </a:ext>
            </a:extLst>
          </p:cNvPr>
          <p:cNvSpPr>
            <a:spLocks xmlns:a="http://schemas.openxmlformats.org/drawingml/2006/main" noGrp="1"/>
          </p:cNvSpPr>
          <p:nvPr/>
        </p:nvSpPr>
        <p:spPr>
          <a:xfrm xmlns:a="http://schemas.openxmlformats.org/drawingml/2006/main">
            <a:off x="11144250" y="63341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2685F"/>
                </a:solidFill>
                <a:latin typeface="Arial"/>
                <a:ea typeface="Arial"/>
                <a:cs typeface="Arial"/>
              </a:defRPr>
            </a:defPPr>
          </a:lstStyle>
          <a:p xmlns:a="http://schemas.openxmlformats.org/drawingml/2006/main">
            <a:pPr>
              <a:defRPr sz="1200" b="0">
                <a:solidFill>
                  <a:srgbClr val="62685F"/>
                </a:solidFill>
                <a:latin typeface="Arial"/>
                <a:ea typeface="Arial"/>
                <a:cs typeface="Arial"/>
              </a:defRPr>
            </a:pPr>
            <a:r>
              <a:rPr sz="1200" b="0">
                <a:solidFill>
                  <a:srgbClr val="62685F"/>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27D76644-71E1-43DD-9C0B-9BD250C8FF02}"/>
              </a:ext>
            </a:extLst>
          </p:cNvPr>
          <p:cNvSpPr>
            <a:spLocks xmlns:a="http://schemas.openxmlformats.org/drawingml/2006/main" noGrp="1"/>
          </p:cNvSpPr>
          <p:nvPr/>
        </p:nvSpPr>
        <p:spPr>
          <a:xfrm xmlns:a="http://schemas.openxmlformats.org/drawingml/2006/main">
            <a:off x="666750" y="1809750"/>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900" b="1">
                <a:solidFill>
                  <a:srgbClr val="BA512E"/>
                </a:solidFill>
                <a:latin typeface="Arial"/>
                <a:ea typeface="Arial"/>
                <a:cs typeface="Arial"/>
              </a:defRPr>
            </a:defPPr>
          </a:lstStyle>
          <a:p xmlns:a="http://schemas.openxmlformats.org/drawingml/2006/main">
            <a:pPr>
              <a:defRPr sz="3900" b="1">
                <a:solidFill>
                  <a:srgbClr val="BA512E"/>
                </a:solidFill>
                <a:latin typeface="Arial"/>
                <a:ea typeface="Arial"/>
                <a:cs typeface="Arial"/>
              </a:defRPr>
            </a:pPr>
            <a:r>
              <a:rPr sz="3900" b="1">
                <a:solidFill>
                  <a:srgbClr val="BA512E"/>
                </a:solidFill>
                <a:latin typeface="Arial"/>
                <a:ea typeface="Arial"/>
                <a:cs typeface="Arial"/>
              </a:rPr>
              <a:t>CD/DVD Rental Management System</a:t>
            </a:r>
          </a:p>
        </p:txBody>
      </p:sp>
      <p:sp>
        <p:nvSpPr>
          <p:cNvPr id="4" name="">
            <a:extLst xmlns:a="http://schemas.openxmlformats.org/drawingml/2006/main">
              <a:ext uri="{FF2B5EF4-FFF2-40B4-BE49-F238E27FC236}">
                <a16:creationId xmlns:a16="http://schemas.microsoft.com/office/drawing/2014/main" id="{B431AFF1-05CA-45BC-99DB-BDCDE51AA99D}"/>
              </a:ext>
            </a:extLst>
          </p:cNvPr>
          <p:cNvSpPr>
            <a:spLocks xmlns:a="http://schemas.openxmlformats.org/drawingml/2006/main" noGrp="1"/>
          </p:cNvSpPr>
          <p:nvPr/>
        </p:nvSpPr>
        <p:spPr>
          <a:xfrm xmlns:a="http://schemas.openxmlformats.org/drawingml/2006/main">
            <a:off x="685800" y="3286125"/>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52D27"/>
                </a:solidFill>
                <a:latin typeface="Arial"/>
                <a:ea typeface="Arial"/>
                <a:cs typeface="Arial"/>
              </a:defRPr>
            </a:defPPr>
          </a:lstStyle>
          <a:p xmlns:a="http://schemas.openxmlformats.org/drawingml/2006/main">
            <a:pPr>
              <a:defRPr sz="2250" b="0">
                <a:solidFill>
                  <a:srgbClr val="252D27"/>
                </a:solidFill>
                <a:latin typeface="Arial"/>
                <a:ea typeface="Arial"/>
                <a:cs typeface="Arial"/>
              </a:defRPr>
            </a:pPr>
            <a:r>
              <a:rPr sz="2250" b="0">
                <a:solidFill>
                  <a:srgbClr val="252D27"/>
                </a:solidFill>
                <a:latin typeface="Arial"/>
                <a:ea typeface="Arial"/>
                <a:cs typeface="Arial"/>
              </a:rPr>
              <a:t>Music for slow afternoons. Movies for nights in.</a:t>
            </a:r>
          </a:p>
        </p:txBody>
      </p:sp>
      <p:sp>
        <p:nvSpPr>
          <p:cNvPr id="5" name="">
            <a:extLst xmlns:a="http://schemas.openxmlformats.org/drawingml/2006/main">
              <a:ext uri="{FF2B5EF4-FFF2-40B4-BE49-F238E27FC236}">
                <a16:creationId xmlns:a16="http://schemas.microsoft.com/office/drawing/2014/main" id="{0D962A13-3ACF-4416-AF30-BFE13BAE7052}"/>
              </a:ext>
            </a:extLst>
          </p:cNvPr>
          <p:cNvSpPr>
            <a:spLocks xmlns:a="http://schemas.openxmlformats.org/drawingml/2006/main" noGrp="1"/>
          </p:cNvSpPr>
          <p:nvPr/>
        </p:nvSpPr>
        <p:spPr>
          <a:xfrm xmlns:a="http://schemas.openxmlformats.org/drawingml/2006/main">
            <a:off x="685800" y="51911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62685F"/>
                </a:solidFill>
                <a:latin typeface="Arial"/>
                <a:ea typeface="Arial"/>
                <a:cs typeface="Arial"/>
              </a:defRPr>
            </a:defPPr>
          </a:lstStyle>
          <a:p xmlns:a="http://schemas.openxmlformats.org/drawingml/2006/main">
            <a:pPr>
              <a:defRPr sz="1800" b="0">
                <a:solidFill>
                  <a:srgbClr val="62685F"/>
                </a:solidFill>
                <a:latin typeface="Arial"/>
                <a:ea typeface="Arial"/>
                <a:cs typeface="Arial"/>
              </a:defRPr>
            </a:pPr>
            <a:r>
              <a:rPr sz="1800" b="0">
                <a:solidFill>
                  <a:srgbClr val="62685F"/>
                </a:solidFill>
                <a:latin typeface="Arial"/>
                <a:ea typeface="Arial"/>
                <a:cs typeface="Arial"/>
              </a:rPr>
              <a:t>66-131217  Back-end Software Development</a:t>
            </a:r>
          </a:p>
        </p:txBody>
      </p:sp>
    </p:spTree>
    <p:extLst>
      <p:ext uri="{BB962C8B-B14F-4D97-AF65-F5344CB8AC3E}">
        <p14:creationId xmlns:p14="http://schemas.microsoft.com/office/powerpoint/2010/main" val="509730934"/>
      </p:ext>
    </p:extLst>
  </p:cSld>
</p:sld>
</file>

<file path=ppt/slides/slide2.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AF2DD71-34FA-4162-9F3C-FBA189ED3733}"/>
              </a:ext>
            </a:extLst>
          </p:cNvPr>
          <p:cNvSpPr>
            <a:spLocks xmlns:a="http://schemas.openxmlformats.org/drawingml/2006/main" noGrp="1"/>
          </p:cNvSpPr>
          <p:nvPr/>
        </p:nvSpPr>
        <p:spPr>
          <a:xfrm xmlns:a="http://schemas.openxmlformats.org/drawingml/2006/main">
            <a:off x="619125" y="5143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52D27"/>
                </a:solidFill>
                <a:latin typeface="Arial"/>
                <a:ea typeface="Arial"/>
                <a:cs typeface="Arial"/>
              </a:defRPr>
            </a:defPPr>
          </a:lstStyle>
          <a:p xmlns:a="http://schemas.openxmlformats.org/drawingml/2006/main">
            <a:pPr>
              <a:defRPr sz="3300" b="1">
                <a:solidFill>
                  <a:srgbClr val="252D27"/>
                </a:solidFill>
                <a:latin typeface="Arial"/>
                <a:ea typeface="Arial"/>
                <a:cs typeface="Arial"/>
              </a:defRPr>
            </a:pPr>
            <a:r>
              <a:rPr sz="3300" b="1">
                <a:solidFill>
                  <a:srgbClr val="252D27"/>
                </a:solidFill>
                <a:latin typeface="Arial"/>
                <a:ea typeface="Arial"/>
                <a:cs typeface="Arial"/>
              </a:rPr>
              <a:t>The shop and its scope</a:t>
            </a:r>
          </a:p>
        </p:txBody>
      </p:sp>
      <p:sp>
        <p:nvSpPr>
          <p:cNvPr id="2" name="">
            <a:extLst xmlns:a="http://schemas.openxmlformats.org/drawingml/2006/main">
              <a:ext uri="{FF2B5EF4-FFF2-40B4-BE49-F238E27FC236}">
                <a16:creationId xmlns:a16="http://schemas.microsoft.com/office/drawing/2014/main" id="{3E546AA6-68EF-493F-9992-C96EF2179944}"/>
              </a:ext>
            </a:extLst>
          </p:cNvPr>
          <p:cNvSpPr>
            <a:spLocks xmlns:a="http://schemas.openxmlformats.org/drawingml/2006/main" noGrp="1"/>
          </p:cNvSpPr>
          <p:nvPr/>
        </p:nvSpPr>
        <p:spPr>
          <a:xfrm xmlns:a="http://schemas.openxmlformats.org/drawingml/2006/main">
            <a:off x="11144250" y="63341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2685F"/>
                </a:solidFill>
                <a:latin typeface="Arial"/>
                <a:ea typeface="Arial"/>
                <a:cs typeface="Arial"/>
              </a:defRPr>
            </a:defPPr>
          </a:lstStyle>
          <a:p xmlns:a="http://schemas.openxmlformats.org/drawingml/2006/main">
            <a:pPr>
              <a:defRPr sz="1200" b="0">
                <a:solidFill>
                  <a:srgbClr val="62685F"/>
                </a:solidFill>
                <a:latin typeface="Arial"/>
                <a:ea typeface="Arial"/>
                <a:cs typeface="Arial"/>
              </a:defRPr>
            </a:pPr>
            <a:r>
              <a:rPr sz="1200" b="0">
                <a:solidFill>
                  <a:srgbClr val="62685F"/>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3DDF226E-E9D9-48FF-923D-F02E7AC9F49F}"/>
              </a:ext>
            </a:extLst>
          </p:cNvPr>
          <p:cNvSpPr>
            <a:spLocks xmlns:a="http://schemas.openxmlformats.org/drawingml/2006/main" noGrp="1"/>
          </p:cNvSpPr>
          <p:nvPr/>
        </p:nvSpPr>
        <p:spPr>
          <a:xfrm xmlns:a="http://schemas.openxmlformats.org/drawingml/2006/main">
            <a:off x="685800" y="17145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52D27"/>
                </a:solidFill>
                <a:latin typeface="Arial"/>
                <a:ea typeface="Arial"/>
                <a:cs typeface="Arial"/>
              </a:defRPr>
            </a:defPPr>
          </a:lstStyle>
          <a:p xmlns:a="http://schemas.openxmlformats.org/drawingml/2006/main">
            <a:pPr>
              <a:defRPr sz="2175" b="0">
                <a:solidFill>
                  <a:srgbClr val="252D27"/>
                </a:solidFill>
                <a:latin typeface="Arial"/>
                <a:ea typeface="Arial"/>
                <a:cs typeface="Arial"/>
              </a:defRPr>
            </a:pPr>
            <a:r>
              <a:rPr sz="2175" b="0">
                <a:solidFill>
                  <a:srgbClr val="252D27"/>
                </a:solidFill>
                <a:latin typeface="Arial"/>
                <a:ea typeface="Arial"/>
                <a:cs typeface="Arial"/>
              </a:rPr>
              <a:t>Customers browse music and movies in CD or DVD format.</a:t>
            </a:r>
          </a:p>
        </p:txBody>
      </p:sp>
      <p:sp>
        <p:nvSpPr>
          <p:cNvPr id="4" name="">
            <a:extLst xmlns:a="http://schemas.openxmlformats.org/drawingml/2006/main">
              <a:ext uri="{FF2B5EF4-FFF2-40B4-BE49-F238E27FC236}">
                <a16:creationId xmlns:a16="http://schemas.microsoft.com/office/drawing/2014/main" id="{CB881734-2D99-4F11-926F-24F011A08DB9}"/>
              </a:ext>
            </a:extLst>
          </p:cNvPr>
          <p:cNvSpPr>
            <a:spLocks xmlns:a="http://schemas.openxmlformats.org/drawingml/2006/main" noGrp="1"/>
          </p:cNvSpPr>
          <p:nvPr/>
        </p:nvSpPr>
        <p:spPr>
          <a:xfrm xmlns:a="http://schemas.openxmlformats.org/drawingml/2006/main">
            <a:off x="685800" y="24955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52D27"/>
                </a:solidFill>
                <a:latin typeface="Arial"/>
                <a:ea typeface="Arial"/>
                <a:cs typeface="Arial"/>
              </a:defRPr>
            </a:defPPr>
          </a:lstStyle>
          <a:p xmlns:a="http://schemas.openxmlformats.org/drawingml/2006/main">
            <a:pPr>
              <a:defRPr sz="2175" b="0">
                <a:solidFill>
                  <a:srgbClr val="252D27"/>
                </a:solidFill>
                <a:latin typeface="Arial"/>
                <a:ea typeface="Arial"/>
                <a:cs typeface="Arial"/>
              </a:defRPr>
            </a:pPr>
            <a:r>
              <a:rPr sz="2175" b="0">
                <a:solidFill>
                  <a:srgbClr val="252D27"/>
                </a:solidFill>
                <a:latin typeface="Arial"/>
                <a:ea typeface="Arial"/>
                <a:cs typeface="Arial"/>
              </a:rPr>
              <a:t>Customers rent one copy online for 1–30 days.</a:t>
            </a:r>
          </a:p>
        </p:txBody>
      </p:sp>
      <p:sp>
        <p:nvSpPr>
          <p:cNvPr id="5" name="">
            <a:extLst xmlns:a="http://schemas.openxmlformats.org/drawingml/2006/main">
              <a:ext uri="{FF2B5EF4-FFF2-40B4-BE49-F238E27FC236}">
                <a16:creationId xmlns:a16="http://schemas.microsoft.com/office/drawing/2014/main" id="{B5E20214-1781-470A-9CC2-C6480B3F40A6}"/>
              </a:ext>
            </a:extLst>
          </p:cNvPr>
          <p:cNvSpPr>
            <a:spLocks xmlns:a="http://schemas.openxmlformats.org/drawingml/2006/main" noGrp="1"/>
          </p:cNvSpPr>
          <p:nvPr/>
        </p:nvSpPr>
        <p:spPr>
          <a:xfrm xmlns:a="http://schemas.openxmlformats.org/drawingml/2006/main">
            <a:off x="685800" y="32766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52D27"/>
                </a:solidFill>
                <a:latin typeface="Arial"/>
                <a:ea typeface="Arial"/>
                <a:cs typeface="Arial"/>
              </a:defRPr>
            </a:defPPr>
          </a:lstStyle>
          <a:p xmlns:a="http://schemas.openxmlformats.org/drawingml/2006/main">
            <a:pPr>
              <a:defRPr sz="2175" b="0">
                <a:solidFill>
                  <a:srgbClr val="252D27"/>
                </a:solidFill>
                <a:latin typeface="Arial"/>
                <a:ea typeface="Arial"/>
                <a:cs typeface="Arial"/>
              </a:defRPr>
            </a:pPr>
            <a:r>
              <a:rPr sz="2175" b="0">
                <a:solidFill>
                  <a:srgbClr val="252D27"/>
                </a:solidFill>
                <a:latin typeface="Arial"/>
                <a:ea typeface="Arial"/>
                <a:cs typeface="Arial"/>
              </a:rPr>
              <a:t>Admins manage media, customers and physical returns.</a:t>
            </a:r>
          </a:p>
        </p:txBody>
      </p:sp>
      <p:sp>
        <p:nvSpPr>
          <p:cNvPr id="6" name="">
            <a:extLst xmlns:a="http://schemas.openxmlformats.org/drawingml/2006/main">
              <a:ext uri="{FF2B5EF4-FFF2-40B4-BE49-F238E27FC236}">
                <a16:creationId xmlns:a16="http://schemas.microsoft.com/office/drawing/2014/main" id="{14C5271C-D4F8-4344-8147-E6D46BE8A522}"/>
              </a:ext>
            </a:extLst>
          </p:cNvPr>
          <p:cNvSpPr>
            <a:spLocks xmlns:a="http://schemas.openxmlformats.org/drawingml/2006/main" noGrp="1"/>
          </p:cNvSpPr>
          <p:nvPr/>
        </p:nvSpPr>
        <p:spPr>
          <a:xfrm xmlns:a="http://schemas.openxmlformats.org/drawingml/2006/main">
            <a:off x="685800" y="40576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52D27"/>
                </a:solidFill>
                <a:latin typeface="Arial"/>
                <a:ea typeface="Arial"/>
                <a:cs typeface="Arial"/>
              </a:defRPr>
            </a:defPPr>
          </a:lstStyle>
          <a:p xmlns:a="http://schemas.openxmlformats.org/drawingml/2006/main">
            <a:pPr>
              <a:defRPr sz="2175" b="0">
                <a:solidFill>
                  <a:srgbClr val="252D27"/>
                </a:solidFill>
                <a:latin typeface="Arial"/>
                <a:ea typeface="Arial"/>
                <a:cs typeface="Arial"/>
              </a:defRPr>
            </a:pPr>
            <a:r>
              <a:rPr sz="2175" b="0">
                <a:solidFill>
                  <a:srgbClr val="252D27"/>
                </a:solidFill>
                <a:latin typeface="Arial"/>
                <a:ea typeface="Arial"/>
                <a:cs typeface="Arial"/>
              </a:rPr>
              <a:t>The system records rental fees and calendar-day late fees.</a:t>
            </a:r>
          </a:p>
        </p:txBody>
      </p:sp>
      <p:sp>
        <p:nvSpPr>
          <p:cNvPr id="7" name="">
            <a:extLst xmlns:a="http://schemas.openxmlformats.org/drawingml/2006/main">
              <a:ext uri="{FF2B5EF4-FFF2-40B4-BE49-F238E27FC236}">
                <a16:creationId xmlns:a16="http://schemas.microsoft.com/office/drawing/2014/main" id="{A8BAB6D1-4C4D-456C-AD2D-AE72144E6DF8}"/>
              </a:ext>
            </a:extLst>
          </p:cNvPr>
          <p:cNvSpPr>
            <a:spLocks xmlns:a="http://schemas.openxmlformats.org/drawingml/2006/main" noGrp="1"/>
          </p:cNvSpPr>
          <p:nvPr/>
        </p:nvSpPr>
        <p:spPr>
          <a:xfrm xmlns:a="http://schemas.openxmlformats.org/drawingml/2006/main">
            <a:off x="685800" y="48387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52D27"/>
                </a:solidFill>
                <a:latin typeface="Arial"/>
                <a:ea typeface="Arial"/>
                <a:cs typeface="Arial"/>
              </a:defRPr>
            </a:defPPr>
          </a:lstStyle>
          <a:p xmlns:a="http://schemas.openxmlformats.org/drawingml/2006/main">
            <a:pPr>
              <a:defRPr sz="2175" b="0">
                <a:solidFill>
                  <a:srgbClr val="252D27"/>
                </a:solidFill>
                <a:latin typeface="Arial"/>
                <a:ea typeface="Arial"/>
                <a:cs typeface="Arial"/>
              </a:defRPr>
            </a:pPr>
            <a:r>
              <a:rPr sz="2175" b="0">
                <a:solidFill>
                  <a:srgbClr val="252D27"/>
                </a:solidFill>
                <a:latin typeface="Arial"/>
                <a:ea typeface="Arial"/>
                <a:cs typeface="Arial"/>
              </a:rPr>
              <a:t>Online payments, delivery and approval queues stay outside scope.</a:t>
            </a:r>
          </a:p>
        </p:txBody>
      </p:sp>
    </p:spTree>
    <p:extLst>
      <p:ext uri="{BB962C8B-B14F-4D97-AF65-F5344CB8AC3E}">
        <p14:creationId xmlns:p14="http://schemas.microsoft.com/office/powerpoint/2010/main" val="845715427"/>
      </p:ext>
    </p:extLst>
  </p:cSld>
</p:sld>
</file>

<file path=ppt/slides/slide3.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11996BC-E04E-4B22-B24B-ADB482D6D829}"/>
              </a:ext>
            </a:extLst>
          </p:cNvPr>
          <p:cNvSpPr>
            <a:spLocks xmlns:a="http://schemas.openxmlformats.org/drawingml/2006/main" noGrp="1"/>
          </p:cNvSpPr>
          <p:nvPr/>
        </p:nvSpPr>
        <p:spPr>
          <a:xfrm xmlns:a="http://schemas.openxmlformats.org/drawingml/2006/main">
            <a:off x="619125" y="5143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52D27"/>
                </a:solidFill>
                <a:latin typeface="Arial"/>
                <a:ea typeface="Arial"/>
                <a:cs typeface="Arial"/>
              </a:defRPr>
            </a:defPPr>
          </a:lstStyle>
          <a:p xmlns:a="http://schemas.openxmlformats.org/drawingml/2006/main">
            <a:pPr>
              <a:defRPr sz="3300" b="1">
                <a:solidFill>
                  <a:srgbClr val="252D27"/>
                </a:solidFill>
                <a:latin typeface="Arial"/>
                <a:ea typeface="Arial"/>
                <a:cs typeface="Arial"/>
              </a:defRPr>
            </a:pPr>
            <a:r>
              <a:rPr sz="3300" b="1">
                <a:solidFill>
                  <a:srgbClr val="252D27"/>
                </a:solidFill>
                <a:latin typeface="Arial"/>
                <a:ea typeface="Arial"/>
                <a:cs typeface="Arial"/>
              </a:rPr>
              <a:t>Layered architecture</a:t>
            </a:r>
          </a:p>
        </p:txBody>
      </p:sp>
      <p:sp>
        <p:nvSpPr>
          <p:cNvPr id="2" name="">
            <a:extLst xmlns:a="http://schemas.openxmlformats.org/drawingml/2006/main">
              <a:ext uri="{FF2B5EF4-FFF2-40B4-BE49-F238E27FC236}">
                <a16:creationId xmlns:a16="http://schemas.microsoft.com/office/drawing/2014/main" id="{8B0C42A8-F169-4F03-9173-DD5D9FD02B0A}"/>
              </a:ext>
            </a:extLst>
          </p:cNvPr>
          <p:cNvSpPr>
            <a:spLocks xmlns:a="http://schemas.openxmlformats.org/drawingml/2006/main" noGrp="1"/>
          </p:cNvSpPr>
          <p:nvPr/>
        </p:nvSpPr>
        <p:spPr>
          <a:xfrm xmlns:a="http://schemas.openxmlformats.org/drawingml/2006/main">
            <a:off x="11144250" y="63341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2685F"/>
                </a:solidFill>
                <a:latin typeface="Arial"/>
                <a:ea typeface="Arial"/>
                <a:cs typeface="Arial"/>
              </a:defRPr>
            </a:defPPr>
          </a:lstStyle>
          <a:p xmlns:a="http://schemas.openxmlformats.org/drawingml/2006/main">
            <a:pPr>
              <a:defRPr sz="1200" b="0">
                <a:solidFill>
                  <a:srgbClr val="62685F"/>
                </a:solidFill>
                <a:latin typeface="Arial"/>
                <a:ea typeface="Arial"/>
                <a:cs typeface="Arial"/>
              </a:defRPr>
            </a:pPr>
            <a:r>
              <a:rPr sz="1200" b="0">
                <a:solidFill>
                  <a:srgbClr val="62685F"/>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8BB7EFB7-CEF1-4E31-AC64-BFC43D1FB687}"/>
              </a:ext>
            </a:extLst>
          </p:cNvPr>
          <p:cNvSpPr>
            <a:spLocks xmlns:a="http://schemas.openxmlformats.org/drawingml/2006/main" noGrp="1"/>
          </p:cNvSpPr>
          <p:nvPr/>
        </p:nvSpPr>
        <p:spPr>
          <a:xfrm xmlns:a="http://schemas.openxmlformats.org/drawingml/2006/main">
            <a:off x="3905250" y="1657350"/>
            <a:ext cx="7620000" cy="3905250"/>
          </a:xfrm>
          <a:prstGeom xmlns:a="http://schemas.openxmlformats.org/drawingml/2006/main" prst="rect">
            <a:avLst/>
          </a:prstGeom>
          <a:solidFill xmlns:a="http://schemas.openxmlformats.org/drawingml/2006/main">
            <a:srgbClr val="EEF0E7"/>
          </a:solidFill>
          <a:ln xmlns:a="http://schemas.openxmlformats.org/drawingml/2006/main" w="14288">
            <a:solidFill>
              <a:srgbClr val="31584B"/>
            </a:solidFill>
          </a:ln>
        </p:spPr>
      </p:sp>
      <p:sp>
        <p:nvSpPr>
          <p:cNvPr id="4" name="">
            <a:extLst xmlns:a="http://schemas.openxmlformats.org/drawingml/2006/main">
              <a:ext uri="{FF2B5EF4-FFF2-40B4-BE49-F238E27FC236}">
                <a16:creationId xmlns:a16="http://schemas.microsoft.com/office/drawing/2014/main" id="{1C331273-664E-4C8D-85A8-5B7975D3D318}"/>
              </a:ext>
            </a:extLst>
          </p:cNvPr>
          <p:cNvSpPr>
            <a:spLocks xmlns:a="http://schemas.openxmlformats.org/drawingml/2006/main" noGrp="1"/>
          </p:cNvSpPr>
          <p:nvPr/>
        </p:nvSpPr>
        <p:spPr>
          <a:xfrm xmlns:a="http://schemas.openxmlformats.org/drawingml/2006/main">
            <a:off x="4143375" y="1809750"/>
            <a:ext cx="666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31584B"/>
                </a:solidFill>
                <a:latin typeface="Arial"/>
                <a:ea typeface="Arial"/>
                <a:cs typeface="Arial"/>
              </a:defRPr>
            </a:defPPr>
          </a:lstStyle>
          <a:p xmlns:a="http://schemas.openxmlformats.org/drawingml/2006/main">
            <a:pPr>
              <a:defRPr sz="1725" b="1">
                <a:solidFill>
                  <a:srgbClr val="31584B"/>
                </a:solidFill>
                <a:latin typeface="Arial"/>
                <a:ea typeface="Arial"/>
                <a:cs typeface="Arial"/>
              </a:defRPr>
            </a:pPr>
            <a:r>
              <a:rPr sz="1725" b="1">
                <a:solidFill>
                  <a:srgbClr val="31584B"/>
                </a:solidFill>
                <a:latin typeface="Arial"/>
                <a:ea typeface="Arial"/>
                <a:cs typeface="Arial"/>
              </a:rPr>
              <a:t>Docker bridge network: alive-backend_rental</a:t>
            </a:r>
          </a:p>
        </p:txBody>
      </p:sp>
      <p:sp>
        <p:nvSpPr>
          <p:cNvPr id="5" name="">
            <a:extLst xmlns:a="http://schemas.openxmlformats.org/drawingml/2006/main">
              <a:ext uri="{FF2B5EF4-FFF2-40B4-BE49-F238E27FC236}">
                <a16:creationId xmlns:a16="http://schemas.microsoft.com/office/drawing/2014/main" id="{2E562B4B-5C45-4F32-9420-CEB4B41491B7}"/>
              </a:ext>
            </a:extLst>
          </p:cNvPr>
          <p:cNvSpPr>
            <a:spLocks xmlns:a="http://schemas.openxmlformats.org/drawingml/2006/main" noGrp="1"/>
          </p:cNvSpPr>
          <p:nvPr/>
        </p:nvSpPr>
        <p:spPr>
          <a:xfrm xmlns:a="http://schemas.openxmlformats.org/drawingml/2006/main">
            <a:off x="666750" y="2857500"/>
            <a:ext cx="2571750" cy="1524000"/>
          </a:xfrm>
          <a:prstGeom xmlns:a="http://schemas.openxmlformats.org/drawingml/2006/main" prst="rect">
            <a:avLst/>
          </a:prstGeom>
          <a:solidFill xmlns:a="http://schemas.openxmlformats.org/drawingml/2006/main">
            <a:srgbClr val="FFFFFF"/>
          </a:solidFill>
          <a:ln xmlns:a="http://schemas.openxmlformats.org/drawingml/2006/main" w="14288">
            <a:solidFill>
              <a:srgbClr val="D3D7C9"/>
            </a:solidFill>
          </a:ln>
        </p:spPr>
      </p:sp>
      <p:sp>
        <p:nvSpPr>
          <p:cNvPr id="6" name="">
            <a:extLst xmlns:a="http://schemas.openxmlformats.org/drawingml/2006/main">
              <a:ext uri="{FF2B5EF4-FFF2-40B4-BE49-F238E27FC236}">
                <a16:creationId xmlns:a16="http://schemas.microsoft.com/office/drawing/2014/main" id="{282592D8-4510-4791-AA04-4B12EC4E2D32}"/>
              </a:ext>
            </a:extLst>
          </p:cNvPr>
          <p:cNvSpPr>
            <a:spLocks xmlns:a="http://schemas.openxmlformats.org/drawingml/2006/main" noGrp="1"/>
          </p:cNvSpPr>
          <p:nvPr/>
        </p:nvSpPr>
        <p:spPr>
          <a:xfrm xmlns:a="http://schemas.openxmlformats.org/drawingml/2006/main">
            <a:off x="857250" y="306705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252D27"/>
                </a:solidFill>
                <a:latin typeface="Arial"/>
                <a:ea typeface="Arial"/>
                <a:cs typeface="Arial"/>
              </a:defRPr>
            </a:defPPr>
          </a:lstStyle>
          <a:p xmlns:a="http://schemas.openxmlformats.org/drawingml/2006/main">
            <a:pPr>
              <a:defRPr sz="2250" b="1">
                <a:solidFill>
                  <a:srgbClr val="252D27"/>
                </a:solidFill>
                <a:latin typeface="Arial"/>
                <a:ea typeface="Arial"/>
                <a:cs typeface="Arial"/>
              </a:defRPr>
            </a:pPr>
            <a:r>
              <a:rPr sz="2250" b="1">
                <a:solidFill>
                  <a:srgbClr val="252D27"/>
                </a:solidFill>
                <a:latin typeface="Arial"/>
                <a:ea typeface="Arial"/>
                <a:cs typeface="Arial"/>
              </a:rPr>
              <a:t>Browser</a:t>
            </a:r>
          </a:p>
        </p:txBody>
      </p:sp>
      <p:sp>
        <p:nvSpPr>
          <p:cNvPr id="7" name="">
            <a:extLst xmlns:a="http://schemas.openxmlformats.org/drawingml/2006/main">
              <a:ext uri="{FF2B5EF4-FFF2-40B4-BE49-F238E27FC236}">
                <a16:creationId xmlns:a16="http://schemas.microsoft.com/office/drawing/2014/main" id="{19745502-1D09-4BBE-8D1A-6E3A2F5C9313}"/>
              </a:ext>
            </a:extLst>
          </p:cNvPr>
          <p:cNvSpPr>
            <a:spLocks xmlns:a="http://schemas.openxmlformats.org/drawingml/2006/main" noGrp="1"/>
          </p:cNvSpPr>
          <p:nvPr/>
        </p:nvSpPr>
        <p:spPr>
          <a:xfrm xmlns:a="http://schemas.openxmlformats.org/drawingml/2006/main">
            <a:off x="857250" y="3562350"/>
            <a:ext cx="2095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252D27"/>
                </a:solidFill>
                <a:latin typeface="Arial"/>
                <a:ea typeface="Arial"/>
                <a:cs typeface="Arial"/>
              </a:defRPr>
            </a:defPPr>
          </a:lstStyle>
          <a:p xmlns:a="http://schemas.openxmlformats.org/drawingml/2006/main">
            <a:pPr>
              <a:defRPr sz="1800" b="0">
                <a:solidFill>
                  <a:srgbClr val="252D27"/>
                </a:solidFill>
                <a:latin typeface="Arial"/>
                <a:ea typeface="Arial"/>
                <a:cs typeface="Arial"/>
              </a:defRPr>
            </a:pPr>
            <a:r>
              <a:rPr sz="1800" b="0">
                <a:solidFill>
                  <a:srgbClr val="252D27"/>
                </a:solidFill>
                <a:latin typeface="Arial"/>
                <a:ea typeface="Arial"/>
                <a:cs typeface="Arial"/>
              </a:rPr>
              <a:t>Angular client</a:t>
            </a:r>
          </a:p>
          <a:p xmlns:a="http://schemas.openxmlformats.org/drawingml/2006/main">
            <a:pPr>
              <a:defRPr sz="1800" b="0">
                <a:solidFill>
                  <a:srgbClr val="252D27"/>
                </a:solidFill>
                <a:latin typeface="Arial"/>
                <a:ea typeface="Arial"/>
                <a:cs typeface="Arial"/>
              </a:defRPr>
            </a:pPr>
            <a:r>
              <a:rPr sz="1800" b="0">
                <a:solidFill>
                  <a:srgbClr val="252D27"/>
                </a:solidFill>
                <a:latin typeface="Arial"/>
                <a:ea typeface="Arial"/>
                <a:cs typeface="Arial"/>
              </a:rPr>
              <a:t>HTTP + JSON</a:t>
            </a:r>
          </a:p>
        </p:txBody>
      </p:sp>
      <p:sp>
        <p:nvSpPr>
          <p:cNvPr id="8" name="">
            <a:extLst xmlns:a="http://schemas.openxmlformats.org/drawingml/2006/main">
              <a:ext uri="{FF2B5EF4-FFF2-40B4-BE49-F238E27FC236}">
                <a16:creationId xmlns:a16="http://schemas.microsoft.com/office/drawing/2014/main" id="{95EB769A-CAD3-48C3-A17A-735509B5655D}"/>
              </a:ext>
            </a:extLst>
          </p:cNvPr>
          <p:cNvSpPr>
            <a:spLocks xmlns:a="http://schemas.openxmlformats.org/drawingml/2006/main" noGrp="1"/>
          </p:cNvSpPr>
          <p:nvPr/>
        </p:nvSpPr>
        <p:spPr>
          <a:xfrm xmlns:a="http://schemas.openxmlformats.org/drawingml/2006/main">
            <a:off x="4191000" y="2762250"/>
            <a:ext cx="1809750" cy="1619250"/>
          </a:xfrm>
          <a:prstGeom xmlns:a="http://schemas.openxmlformats.org/drawingml/2006/main" prst="rect">
            <a:avLst/>
          </a:prstGeom>
          <a:solidFill xmlns:a="http://schemas.openxmlformats.org/drawingml/2006/main">
            <a:srgbClr val="FFFFFF"/>
          </a:solidFill>
          <a:ln xmlns:a="http://schemas.openxmlformats.org/drawingml/2006/main" w="14288">
            <a:solidFill>
              <a:srgbClr val="D3D7C9"/>
            </a:solidFill>
          </a:ln>
        </p:spPr>
      </p:sp>
      <p:sp>
        <p:nvSpPr>
          <p:cNvPr id="9" name="">
            <a:extLst xmlns:a="http://schemas.openxmlformats.org/drawingml/2006/main">
              <a:ext uri="{FF2B5EF4-FFF2-40B4-BE49-F238E27FC236}">
                <a16:creationId xmlns:a16="http://schemas.microsoft.com/office/drawing/2014/main" id="{89440018-1284-4E68-96EA-BD48DDC2BB5C}"/>
              </a:ext>
            </a:extLst>
          </p:cNvPr>
          <p:cNvSpPr>
            <a:spLocks xmlns:a="http://schemas.openxmlformats.org/drawingml/2006/main" noGrp="1"/>
          </p:cNvSpPr>
          <p:nvPr/>
        </p:nvSpPr>
        <p:spPr>
          <a:xfrm xmlns:a="http://schemas.openxmlformats.org/drawingml/2006/main">
            <a:off x="4371975" y="29527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252D27"/>
                </a:solidFill>
                <a:latin typeface="Arial"/>
                <a:ea typeface="Arial"/>
                <a:cs typeface="Arial"/>
              </a:defRPr>
            </a:defPPr>
          </a:lstStyle>
          <a:p xmlns:a="http://schemas.openxmlformats.org/drawingml/2006/main">
            <a:pPr>
              <a:defRPr sz="2175" b="1">
                <a:solidFill>
                  <a:srgbClr val="252D27"/>
                </a:solidFill>
                <a:latin typeface="Arial"/>
                <a:ea typeface="Arial"/>
                <a:cs typeface="Arial"/>
              </a:defRPr>
            </a:pPr>
            <a:r>
              <a:rPr sz="2175" b="1">
                <a:solidFill>
                  <a:srgbClr val="252D27"/>
                </a:solidFill>
                <a:latin typeface="Arial"/>
                <a:ea typeface="Arial"/>
                <a:cs typeface="Arial"/>
              </a:rPr>
              <a:t>Nginx</a:t>
            </a:r>
          </a:p>
        </p:txBody>
      </p:sp>
      <p:sp>
        <p:nvSpPr>
          <p:cNvPr id="10" name="">
            <a:extLst xmlns:a="http://schemas.openxmlformats.org/drawingml/2006/main">
              <a:ext uri="{FF2B5EF4-FFF2-40B4-BE49-F238E27FC236}">
                <a16:creationId xmlns:a16="http://schemas.microsoft.com/office/drawing/2014/main" id="{AE5973E3-6DE8-4A4E-A7A9-BB8CBCDEA53E}"/>
              </a:ext>
            </a:extLst>
          </p:cNvPr>
          <p:cNvSpPr>
            <a:spLocks xmlns:a="http://schemas.openxmlformats.org/drawingml/2006/main" noGrp="1"/>
          </p:cNvSpPr>
          <p:nvPr/>
        </p:nvSpPr>
        <p:spPr>
          <a:xfrm xmlns:a="http://schemas.openxmlformats.org/drawingml/2006/main">
            <a:off x="4371975" y="3476625"/>
            <a:ext cx="14859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252D27"/>
                </a:solidFill>
                <a:latin typeface="Arial"/>
                <a:ea typeface="Arial"/>
                <a:cs typeface="Arial"/>
              </a:defRPr>
            </a:defPPr>
          </a:lstStyle>
          <a:p xmlns:a="http://schemas.openxmlformats.org/drawingml/2006/main">
            <a:pPr>
              <a:defRPr sz="1650" b="0">
                <a:solidFill>
                  <a:srgbClr val="252D27"/>
                </a:solidFill>
                <a:latin typeface="Arial"/>
                <a:ea typeface="Arial"/>
                <a:cs typeface="Arial"/>
              </a:defRPr>
            </a:pPr>
            <a:r>
              <a:rPr sz="1650" b="0">
                <a:solidFill>
                  <a:srgbClr val="252D27"/>
                </a:solidFill>
                <a:latin typeface="Arial"/>
                <a:ea typeface="Arial"/>
                <a:cs typeface="Arial"/>
              </a:rPr>
              <a:t>Frontend</a:t>
            </a:r>
          </a:p>
          <a:p xmlns:a="http://schemas.openxmlformats.org/drawingml/2006/main">
            <a:pPr>
              <a:defRPr sz="1650" b="0">
                <a:solidFill>
                  <a:srgbClr val="252D27"/>
                </a:solidFill>
                <a:latin typeface="Arial"/>
                <a:ea typeface="Arial"/>
                <a:cs typeface="Arial"/>
              </a:defRPr>
            </a:pPr>
            <a:r>
              <a:rPr sz="1650" b="0">
                <a:solidFill>
                  <a:srgbClr val="252D27"/>
                </a:solidFill>
                <a:latin typeface="Arial"/>
                <a:ea typeface="Arial"/>
                <a:cs typeface="Arial"/>
              </a:rPr>
              <a:t>Port 4200</a:t>
            </a:r>
          </a:p>
          <a:p xmlns:a="http://schemas.openxmlformats.org/drawingml/2006/main">
            <a:pPr>
              <a:defRPr sz="1650" b="0">
                <a:solidFill>
                  <a:srgbClr val="252D27"/>
                </a:solidFill>
                <a:latin typeface="Arial"/>
                <a:ea typeface="Arial"/>
                <a:cs typeface="Arial"/>
              </a:defRPr>
            </a:pPr>
            <a:r>
              <a:rPr sz="1650" b="0">
                <a:solidFill>
                  <a:srgbClr val="252D27"/>
                </a:solidFill>
                <a:latin typeface="Arial"/>
                <a:ea typeface="Arial"/>
                <a:cs typeface="Arial"/>
              </a:rPr>
              <a:t>/api proxy</a:t>
            </a:r>
          </a:p>
        </p:txBody>
      </p:sp>
      <p:sp>
        <p:nvSpPr>
          <p:cNvPr id="11" name="">
            <a:extLst xmlns:a="http://schemas.openxmlformats.org/drawingml/2006/main">
              <a:ext uri="{FF2B5EF4-FFF2-40B4-BE49-F238E27FC236}">
                <a16:creationId xmlns:a16="http://schemas.microsoft.com/office/drawing/2014/main" id="{76105F88-32AA-46E4-80B7-979CDC9EE183}"/>
              </a:ext>
            </a:extLst>
          </p:cNvPr>
          <p:cNvSpPr>
            <a:spLocks xmlns:a="http://schemas.openxmlformats.org/drawingml/2006/main" noGrp="1"/>
          </p:cNvSpPr>
          <p:nvPr/>
        </p:nvSpPr>
        <p:spPr>
          <a:xfrm xmlns:a="http://schemas.openxmlformats.org/drawingml/2006/main">
            <a:off x="6762750" y="2762250"/>
            <a:ext cx="2286000" cy="1619250"/>
          </a:xfrm>
          <a:prstGeom xmlns:a="http://schemas.openxmlformats.org/drawingml/2006/main" prst="rect">
            <a:avLst/>
          </a:prstGeom>
          <a:solidFill xmlns:a="http://schemas.openxmlformats.org/drawingml/2006/main">
            <a:srgbClr val="FFFFFF"/>
          </a:solidFill>
          <a:ln xmlns:a="http://schemas.openxmlformats.org/drawingml/2006/main" w="14288">
            <a:solidFill>
              <a:srgbClr val="D3D7C9"/>
            </a:solidFill>
          </a:ln>
        </p:spPr>
      </p:sp>
      <p:sp>
        <p:nvSpPr>
          <p:cNvPr id="12" name="">
            <a:extLst xmlns:a="http://schemas.openxmlformats.org/drawingml/2006/main">
              <a:ext uri="{FF2B5EF4-FFF2-40B4-BE49-F238E27FC236}">
                <a16:creationId xmlns:a16="http://schemas.microsoft.com/office/drawing/2014/main" id="{0F7997F2-DA50-4A11-803D-70F408C003F6}"/>
              </a:ext>
            </a:extLst>
          </p:cNvPr>
          <p:cNvSpPr>
            <a:spLocks xmlns:a="http://schemas.openxmlformats.org/drawingml/2006/main" noGrp="1"/>
          </p:cNvSpPr>
          <p:nvPr/>
        </p:nvSpPr>
        <p:spPr>
          <a:xfrm xmlns:a="http://schemas.openxmlformats.org/drawingml/2006/main">
            <a:off x="6953250" y="2952750"/>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252D27"/>
                </a:solidFill>
                <a:latin typeface="Arial"/>
                <a:ea typeface="Arial"/>
                <a:cs typeface="Arial"/>
              </a:defRPr>
            </a:defPPr>
          </a:lstStyle>
          <a:p xmlns:a="http://schemas.openxmlformats.org/drawingml/2006/main">
            <a:pPr>
              <a:defRPr sz="2100" b="1">
                <a:solidFill>
                  <a:srgbClr val="252D27"/>
                </a:solidFill>
                <a:latin typeface="Arial"/>
                <a:ea typeface="Arial"/>
                <a:cs typeface="Arial"/>
              </a:defRPr>
            </a:pPr>
            <a:r>
              <a:rPr sz="2100" b="1">
                <a:solidFill>
                  <a:srgbClr val="252D27"/>
                </a:solidFill>
                <a:latin typeface="Arial"/>
                <a:ea typeface="Arial"/>
                <a:cs typeface="Arial"/>
              </a:rPr>
              <a:t>Express API</a:t>
            </a:r>
          </a:p>
        </p:txBody>
      </p:sp>
      <p:sp>
        <p:nvSpPr>
          <p:cNvPr id="13" name="">
            <a:extLst xmlns:a="http://schemas.openxmlformats.org/drawingml/2006/main">
              <a:ext uri="{FF2B5EF4-FFF2-40B4-BE49-F238E27FC236}">
                <a16:creationId xmlns:a16="http://schemas.microsoft.com/office/drawing/2014/main" id="{E85D3F73-C555-4BF8-B39C-6C0161C2E6DF}"/>
              </a:ext>
            </a:extLst>
          </p:cNvPr>
          <p:cNvSpPr>
            <a:spLocks xmlns:a="http://schemas.openxmlformats.org/drawingml/2006/main" noGrp="1"/>
          </p:cNvSpPr>
          <p:nvPr/>
        </p:nvSpPr>
        <p:spPr>
          <a:xfrm xmlns:a="http://schemas.openxmlformats.org/drawingml/2006/main">
            <a:off x="6953250" y="3476625"/>
            <a:ext cx="2000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252D27"/>
                </a:solidFill>
                <a:latin typeface="Arial"/>
                <a:ea typeface="Arial"/>
                <a:cs typeface="Arial"/>
              </a:defRPr>
            </a:defPPr>
          </a:lstStyle>
          <a:p xmlns:a="http://schemas.openxmlformats.org/drawingml/2006/main">
            <a:pPr>
              <a:defRPr sz="1650" b="0">
                <a:solidFill>
                  <a:srgbClr val="252D27"/>
                </a:solidFill>
                <a:latin typeface="Arial"/>
                <a:ea typeface="Arial"/>
                <a:cs typeface="Arial"/>
              </a:defRPr>
            </a:pPr>
            <a:r>
              <a:rPr sz="1650" b="0">
                <a:solidFill>
                  <a:srgbClr val="252D27"/>
                </a:solidFill>
                <a:latin typeface="Arial"/>
                <a:ea typeface="Arial"/>
                <a:cs typeface="Arial"/>
              </a:rPr>
              <a:t>JWT middleware</a:t>
            </a:r>
          </a:p>
          <a:p xmlns:a="http://schemas.openxmlformats.org/drawingml/2006/main">
            <a:pPr>
              <a:defRPr sz="1650" b="0">
                <a:solidFill>
                  <a:srgbClr val="252D27"/>
                </a:solidFill>
                <a:latin typeface="Arial"/>
                <a:ea typeface="Arial"/>
                <a:cs typeface="Arial"/>
              </a:defRPr>
            </a:pPr>
            <a:r>
              <a:rPr sz="1650" b="0">
                <a:solidFill>
                  <a:srgbClr val="252D27"/>
                </a:solidFill>
                <a:latin typeface="Arial"/>
                <a:ea typeface="Arial"/>
                <a:cs typeface="Arial"/>
              </a:rPr>
              <a:t>Controllers</a:t>
            </a:r>
          </a:p>
          <a:p xmlns:a="http://schemas.openxmlformats.org/drawingml/2006/main">
            <a:pPr>
              <a:defRPr sz="1650" b="0">
                <a:solidFill>
                  <a:srgbClr val="252D27"/>
                </a:solidFill>
                <a:latin typeface="Arial"/>
                <a:ea typeface="Arial"/>
                <a:cs typeface="Arial"/>
              </a:defRPr>
            </a:pPr>
            <a:r>
              <a:rPr sz="1650" b="0">
                <a:solidFill>
                  <a:srgbClr val="252D27"/>
                </a:solidFill>
                <a:latin typeface="Arial"/>
                <a:ea typeface="Arial"/>
                <a:cs typeface="Arial"/>
              </a:rPr>
              <a:t>Models / mysql2</a:t>
            </a:r>
          </a:p>
        </p:txBody>
      </p:sp>
      <p:sp>
        <p:nvSpPr>
          <p:cNvPr id="14" name="">
            <a:extLst xmlns:a="http://schemas.openxmlformats.org/drawingml/2006/main">
              <a:ext uri="{FF2B5EF4-FFF2-40B4-BE49-F238E27FC236}">
                <a16:creationId xmlns:a16="http://schemas.microsoft.com/office/drawing/2014/main" id="{0418420B-3D42-4BF5-ADC7-D7735A8443B9}"/>
              </a:ext>
            </a:extLst>
          </p:cNvPr>
          <p:cNvSpPr>
            <a:spLocks xmlns:a="http://schemas.openxmlformats.org/drawingml/2006/main" noGrp="1"/>
          </p:cNvSpPr>
          <p:nvPr/>
        </p:nvSpPr>
        <p:spPr>
          <a:xfrm xmlns:a="http://schemas.openxmlformats.org/drawingml/2006/main">
            <a:off x="9810750" y="2762250"/>
            <a:ext cx="1428750" cy="1619250"/>
          </a:xfrm>
          <a:prstGeom xmlns:a="http://schemas.openxmlformats.org/drawingml/2006/main" prst="rect">
            <a:avLst/>
          </a:prstGeom>
          <a:solidFill xmlns:a="http://schemas.openxmlformats.org/drawingml/2006/main">
            <a:srgbClr val="FFFFFF"/>
          </a:solidFill>
          <a:ln xmlns:a="http://schemas.openxmlformats.org/drawingml/2006/main" w="14288">
            <a:solidFill>
              <a:srgbClr val="D3D7C9"/>
            </a:solidFill>
          </a:ln>
        </p:spPr>
      </p:sp>
      <p:sp>
        <p:nvSpPr>
          <p:cNvPr id="15" name="">
            <a:extLst xmlns:a="http://schemas.openxmlformats.org/drawingml/2006/main">
              <a:ext uri="{FF2B5EF4-FFF2-40B4-BE49-F238E27FC236}">
                <a16:creationId xmlns:a16="http://schemas.microsoft.com/office/drawing/2014/main" id="{4331C597-BAAF-476B-8144-14359E7E74A6}"/>
              </a:ext>
            </a:extLst>
          </p:cNvPr>
          <p:cNvSpPr>
            <a:spLocks xmlns:a="http://schemas.openxmlformats.org/drawingml/2006/main" noGrp="1"/>
          </p:cNvSpPr>
          <p:nvPr/>
        </p:nvSpPr>
        <p:spPr>
          <a:xfrm xmlns:a="http://schemas.openxmlformats.org/drawingml/2006/main">
            <a:off x="9982200" y="2971800"/>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252D27"/>
                </a:solidFill>
                <a:latin typeface="Arial"/>
                <a:ea typeface="Arial"/>
                <a:cs typeface="Arial"/>
              </a:defRPr>
            </a:defPPr>
          </a:lstStyle>
          <a:p xmlns:a="http://schemas.openxmlformats.org/drawingml/2006/main">
            <a:pPr>
              <a:defRPr sz="2100" b="1">
                <a:solidFill>
                  <a:srgbClr val="252D27"/>
                </a:solidFill>
                <a:latin typeface="Arial"/>
                <a:ea typeface="Arial"/>
                <a:cs typeface="Arial"/>
              </a:defRPr>
            </a:pPr>
            <a:r>
              <a:rPr sz="2100" b="1">
                <a:solidFill>
                  <a:srgbClr val="252D27"/>
                </a:solidFill>
                <a:latin typeface="Arial"/>
                <a:ea typeface="Arial"/>
                <a:cs typeface="Arial"/>
              </a:rPr>
              <a:t>MySQL</a:t>
            </a:r>
          </a:p>
        </p:txBody>
      </p:sp>
      <p:sp>
        <p:nvSpPr>
          <p:cNvPr id="16" name="">
            <a:extLst xmlns:a="http://schemas.openxmlformats.org/drawingml/2006/main">
              <a:ext uri="{FF2B5EF4-FFF2-40B4-BE49-F238E27FC236}">
                <a16:creationId xmlns:a16="http://schemas.microsoft.com/office/drawing/2014/main" id="{0EFFD404-9900-4E62-856B-ADB29024FFA7}"/>
              </a:ext>
            </a:extLst>
          </p:cNvPr>
          <p:cNvSpPr>
            <a:spLocks xmlns:a="http://schemas.openxmlformats.org/drawingml/2006/main" noGrp="1"/>
          </p:cNvSpPr>
          <p:nvPr/>
        </p:nvSpPr>
        <p:spPr>
          <a:xfrm xmlns:a="http://schemas.openxmlformats.org/drawingml/2006/main">
            <a:off x="9982200" y="3495675"/>
            <a:ext cx="114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252D27"/>
                </a:solidFill>
                <a:latin typeface="Arial"/>
                <a:ea typeface="Arial"/>
                <a:cs typeface="Arial"/>
              </a:defRPr>
            </a:defPPr>
          </a:lstStyle>
          <a:p xmlns:a="http://schemas.openxmlformats.org/drawingml/2006/main">
            <a:pPr>
              <a:defRPr sz="1650" b="0">
                <a:solidFill>
                  <a:srgbClr val="252D27"/>
                </a:solidFill>
                <a:latin typeface="Arial"/>
                <a:ea typeface="Arial"/>
                <a:cs typeface="Arial"/>
              </a:defRPr>
            </a:pPr>
            <a:r>
              <a:rPr sz="1650" b="0">
                <a:solidFill>
                  <a:srgbClr val="252D27"/>
                </a:solidFill>
                <a:latin typeface="Arial"/>
                <a:ea typeface="Arial"/>
                <a:cs typeface="Arial"/>
              </a:rPr>
              <a:t>Private</a:t>
            </a:r>
          </a:p>
          <a:p xmlns:a="http://schemas.openxmlformats.org/drawingml/2006/main">
            <a:pPr>
              <a:defRPr sz="1650" b="0">
                <a:solidFill>
                  <a:srgbClr val="252D27"/>
                </a:solidFill>
                <a:latin typeface="Arial"/>
                <a:ea typeface="Arial"/>
                <a:cs typeface="Arial"/>
              </a:defRPr>
            </a:pPr>
            <a:r>
              <a:rPr sz="1650" b="0">
                <a:solidFill>
                  <a:srgbClr val="252D27"/>
                </a:solidFill>
                <a:latin typeface="Arial"/>
                <a:ea typeface="Arial"/>
                <a:cs typeface="Arial"/>
              </a:rPr>
              <a:t>port 3306</a:t>
            </a:r>
          </a:p>
        </p:txBody>
      </p:sp>
      <p:cxnSp>
        <p:nvCxnSpPr>
          <p:cNvPr id="17" name="">
            <a:extLst xmlns:a="http://schemas.openxmlformats.org/drawingml/2006/main">
              <a:ext uri="{FF2B5EF4-FFF2-40B4-BE49-F238E27FC236}">
                <a16:creationId xmlns:a16="http://schemas.microsoft.com/office/drawing/2014/main" id="{3AC2E0D6-3C71-4A7E-A66E-5FCD7C6854A9}"/>
              </a:ext>
            </a:extLst>
          </p:cNvPr>
          <p:cNvCxnSpPr>
            <a:stCxn xmlns:a="http://schemas.openxmlformats.org/drawingml/2006/main" id="5" idx="3"/>
            <a:endCxn xmlns:a="http://schemas.openxmlformats.org/drawingml/2006/main" id="8" idx="1"/>
          </p:cNvCxnSpPr>
          <p:nvPr/>
        </p:nvCxnSpPr>
        <p:spPr>
          <a:xfrm xmlns:a="http://schemas.openxmlformats.org/drawingml/2006/main" flipV="1">
            <a:off x="3238500" y="3571875"/>
            <a:ext cx="952500" cy="47625"/>
          </a:xfrm>
          <a:prstGeom xmlns:a="http://schemas.openxmlformats.org/drawingml/2006/main" prst="straightConnector1">
            <a:avLst/>
          </a:prstGeom>
          <a:ln xmlns:a="http://schemas.openxmlformats.org/drawingml/2006/main" w="19050">
            <a:solidFill>
              <a:srgbClr val="BA512E"/>
            </a:solidFill>
            <a:tailEnd type="triangle" w="med" len="med"/>
          </a:ln>
        </p:spPr>
      </p:cxnSp>
      <p:cxnSp>
        <p:nvCxnSpPr>
          <p:cNvPr id="18" name="">
            <a:extLst xmlns:a="http://schemas.openxmlformats.org/drawingml/2006/main">
              <a:ext uri="{FF2B5EF4-FFF2-40B4-BE49-F238E27FC236}">
                <a16:creationId xmlns:a16="http://schemas.microsoft.com/office/drawing/2014/main" id="{53F100F6-8C17-4CB8-AAA0-4249C57B9E0A}"/>
              </a:ext>
            </a:extLst>
          </p:cNvPr>
          <p:cNvCxnSpPr>
            <a:stCxn xmlns:a="http://schemas.openxmlformats.org/drawingml/2006/main" id="8" idx="3"/>
            <a:endCxn xmlns:a="http://schemas.openxmlformats.org/drawingml/2006/main" id="11" idx="1"/>
          </p:cNvCxnSpPr>
          <p:nvPr/>
        </p:nvCxnSpPr>
        <p:spPr>
          <a:xfrm xmlns:a="http://schemas.openxmlformats.org/drawingml/2006/main">
            <a:off x="6000750" y="3571875"/>
            <a:ext cx="762000" cy="0"/>
          </a:xfrm>
          <a:prstGeom xmlns:a="http://schemas.openxmlformats.org/drawingml/2006/main" prst="straightConnector1">
            <a:avLst/>
          </a:prstGeom>
          <a:ln xmlns:a="http://schemas.openxmlformats.org/drawingml/2006/main" w="19050">
            <a:solidFill>
              <a:srgbClr val="BA512E"/>
            </a:solidFill>
            <a:tailEnd type="triangle" w="med" len="med"/>
          </a:ln>
        </p:spPr>
      </p:cxnSp>
      <p:cxnSp>
        <p:nvCxnSpPr>
          <p:cNvPr id="19" name="">
            <a:extLst xmlns:a="http://schemas.openxmlformats.org/drawingml/2006/main">
              <a:ext uri="{FF2B5EF4-FFF2-40B4-BE49-F238E27FC236}">
                <a16:creationId xmlns:a16="http://schemas.microsoft.com/office/drawing/2014/main" id="{EE035E36-66DD-4AD3-B057-0CE44B387B18}"/>
              </a:ext>
            </a:extLst>
          </p:cNvPr>
          <p:cNvCxnSpPr>
            <a:stCxn xmlns:a="http://schemas.openxmlformats.org/drawingml/2006/main" id="11" idx="3"/>
            <a:endCxn xmlns:a="http://schemas.openxmlformats.org/drawingml/2006/main" id="14" idx="1"/>
          </p:cNvCxnSpPr>
          <p:nvPr/>
        </p:nvCxnSpPr>
        <p:spPr>
          <a:xfrm xmlns:a="http://schemas.openxmlformats.org/drawingml/2006/main">
            <a:off x="9048750" y="3571875"/>
            <a:ext cx="762000" cy="0"/>
          </a:xfrm>
          <a:prstGeom xmlns:a="http://schemas.openxmlformats.org/drawingml/2006/main" prst="straightConnector1">
            <a:avLst/>
          </a:prstGeom>
          <a:ln xmlns:a="http://schemas.openxmlformats.org/drawingml/2006/main" w="19050">
            <a:solidFill>
              <a:srgbClr val="BA512E"/>
            </a:solidFill>
            <a:tailEnd type="triangle" w="med" len="med"/>
          </a:ln>
        </p:spPr>
      </p:cxnSp>
      <p:sp>
        <p:nvSpPr>
          <p:cNvPr id="20" name="">
            <a:extLst xmlns:a="http://schemas.openxmlformats.org/drawingml/2006/main">
              <a:ext uri="{FF2B5EF4-FFF2-40B4-BE49-F238E27FC236}">
                <a16:creationId xmlns:a16="http://schemas.microsoft.com/office/drawing/2014/main" id="{9DA199B8-A686-4715-972E-84074AB72A4E}"/>
              </a:ext>
            </a:extLst>
          </p:cNvPr>
          <p:cNvSpPr>
            <a:spLocks xmlns:a="http://schemas.openxmlformats.org/drawingml/2006/main" noGrp="1"/>
          </p:cNvSpPr>
          <p:nvPr/>
        </p:nvSpPr>
        <p:spPr>
          <a:xfrm xmlns:a="http://schemas.openxmlformats.org/drawingml/2006/main">
            <a:off x="3238500" y="2571750"/>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62685F"/>
                </a:solidFill>
                <a:latin typeface="Arial"/>
                <a:ea typeface="Arial"/>
                <a:cs typeface="Arial"/>
              </a:defRPr>
            </a:defPPr>
          </a:lstStyle>
          <a:p xmlns:a="http://schemas.openxmlformats.org/drawingml/2006/main">
            <a:pPr>
              <a:defRPr sz="1350" b="0">
                <a:solidFill>
                  <a:srgbClr val="62685F"/>
                </a:solidFill>
                <a:latin typeface="Arial"/>
                <a:ea typeface="Arial"/>
                <a:cs typeface="Arial"/>
              </a:defRPr>
            </a:pPr>
            <a:r>
              <a:rPr sz="1350" b="0">
                <a:solidFill>
                  <a:srgbClr val="62685F"/>
                </a:solidFill>
                <a:latin typeface="Arial"/>
                <a:ea typeface="Arial"/>
                <a:cs typeface="Arial"/>
              </a:rPr>
              <a:t>HTTP</a:t>
            </a:r>
          </a:p>
        </p:txBody>
      </p:sp>
      <p:sp>
        <p:nvSpPr>
          <p:cNvPr id="21" name="">
            <a:extLst xmlns:a="http://schemas.openxmlformats.org/drawingml/2006/main">
              <a:ext uri="{FF2B5EF4-FFF2-40B4-BE49-F238E27FC236}">
                <a16:creationId xmlns:a16="http://schemas.microsoft.com/office/drawing/2014/main" id="{A553AF50-64F6-4547-A0CC-1B03E3078C19}"/>
              </a:ext>
            </a:extLst>
          </p:cNvPr>
          <p:cNvSpPr>
            <a:spLocks xmlns:a="http://schemas.openxmlformats.org/drawingml/2006/main" noGrp="1"/>
          </p:cNvSpPr>
          <p:nvPr/>
        </p:nvSpPr>
        <p:spPr>
          <a:xfrm xmlns:a="http://schemas.openxmlformats.org/drawingml/2006/main">
            <a:off x="6029325" y="2571750"/>
            <a:ext cx="714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62685F"/>
                </a:solidFill>
                <a:latin typeface="Arial"/>
                <a:ea typeface="Arial"/>
                <a:cs typeface="Arial"/>
              </a:defRPr>
            </a:defPPr>
          </a:lstStyle>
          <a:p xmlns:a="http://schemas.openxmlformats.org/drawingml/2006/main">
            <a:pPr>
              <a:defRPr sz="1350" b="0">
                <a:solidFill>
                  <a:srgbClr val="62685F"/>
                </a:solidFill>
                <a:latin typeface="Arial"/>
                <a:ea typeface="Arial"/>
                <a:cs typeface="Arial"/>
              </a:defRPr>
            </a:pPr>
            <a:r>
              <a:rPr sz="1350" b="0">
                <a:solidFill>
                  <a:srgbClr val="62685F"/>
                </a:solidFill>
                <a:latin typeface="Arial"/>
                <a:ea typeface="Arial"/>
                <a:cs typeface="Arial"/>
              </a:rPr>
              <a:t>JSON</a:t>
            </a:r>
          </a:p>
        </p:txBody>
      </p:sp>
      <p:sp>
        <p:nvSpPr>
          <p:cNvPr id="22" name="">
            <a:extLst xmlns:a="http://schemas.openxmlformats.org/drawingml/2006/main">
              <a:ext uri="{FF2B5EF4-FFF2-40B4-BE49-F238E27FC236}">
                <a16:creationId xmlns:a16="http://schemas.microsoft.com/office/drawing/2014/main" id="{3C2814D7-FF29-4EC9-91D2-3C8822CD6911}"/>
              </a:ext>
            </a:extLst>
          </p:cNvPr>
          <p:cNvSpPr>
            <a:spLocks xmlns:a="http://schemas.openxmlformats.org/drawingml/2006/main" noGrp="1"/>
          </p:cNvSpPr>
          <p:nvPr/>
        </p:nvSpPr>
        <p:spPr>
          <a:xfrm xmlns:a="http://schemas.openxmlformats.org/drawingml/2006/main">
            <a:off x="9144000" y="2571750"/>
            <a:ext cx="619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62685F"/>
                </a:solidFill>
                <a:latin typeface="Arial"/>
                <a:ea typeface="Arial"/>
                <a:cs typeface="Arial"/>
              </a:defRPr>
            </a:defPPr>
          </a:lstStyle>
          <a:p xmlns:a="http://schemas.openxmlformats.org/drawingml/2006/main">
            <a:pPr>
              <a:defRPr sz="1350" b="0">
                <a:solidFill>
                  <a:srgbClr val="62685F"/>
                </a:solidFill>
                <a:latin typeface="Arial"/>
                <a:ea typeface="Arial"/>
                <a:cs typeface="Arial"/>
              </a:defRPr>
            </a:pPr>
            <a:r>
              <a:rPr sz="1350" b="0">
                <a:solidFill>
                  <a:srgbClr val="62685F"/>
                </a:solidFill>
                <a:latin typeface="Arial"/>
                <a:ea typeface="Arial"/>
                <a:cs typeface="Arial"/>
              </a:rPr>
              <a:t>SQL</a:t>
            </a:r>
          </a:p>
        </p:txBody>
      </p:sp>
      <p:sp>
        <p:nvSpPr>
          <p:cNvPr id="23" name="">
            <a:extLst xmlns:a="http://schemas.openxmlformats.org/drawingml/2006/main">
              <a:ext uri="{FF2B5EF4-FFF2-40B4-BE49-F238E27FC236}">
                <a16:creationId xmlns:a16="http://schemas.microsoft.com/office/drawing/2014/main" id="{D922A052-237B-4DE1-A93D-C728208899BE}"/>
              </a:ext>
            </a:extLst>
          </p:cNvPr>
          <p:cNvSpPr>
            <a:spLocks xmlns:a="http://schemas.openxmlformats.org/drawingml/2006/main" noGrp="1"/>
          </p:cNvSpPr>
          <p:nvPr/>
        </p:nvSpPr>
        <p:spPr>
          <a:xfrm xmlns:a="http://schemas.openxmlformats.org/drawingml/2006/main">
            <a:off x="4191000" y="4714875"/>
            <a:ext cx="7096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2685F"/>
                </a:solidFill>
                <a:latin typeface="Arial"/>
                <a:ea typeface="Arial"/>
                <a:cs typeface="Arial"/>
              </a:defRPr>
            </a:defPPr>
          </a:lstStyle>
          <a:p xmlns:a="http://schemas.openxmlformats.org/drawingml/2006/main">
            <a:pPr>
              <a:defRPr sz="1725" b="0">
                <a:solidFill>
                  <a:srgbClr val="62685F"/>
                </a:solidFill>
                <a:latin typeface="Arial"/>
                <a:ea typeface="Arial"/>
                <a:cs typeface="Arial"/>
              </a:defRPr>
            </a:pPr>
            <a:r>
              <a:rPr sz="1725" b="0">
                <a:solidFill>
                  <a:srgbClr val="62685F"/>
                </a:solidFill>
                <a:latin typeface="Arial"/>
                <a:ea typeface="Arial"/>
                <a:cs typeface="Arial"/>
              </a:rPr>
              <a:t>Routes → validation / permissions → models → database</a:t>
            </a:r>
          </a:p>
        </p:txBody>
      </p:sp>
      <p:sp>
        <p:nvSpPr>
          <p:cNvPr id="24" name="">
            <a:extLst xmlns:a="http://schemas.openxmlformats.org/drawingml/2006/main">
              <a:ext uri="{FF2B5EF4-FFF2-40B4-BE49-F238E27FC236}">
                <a16:creationId xmlns:a16="http://schemas.microsoft.com/office/drawing/2014/main" id="{13F3DF26-3A94-414A-BAFA-5CB6CD588A93}"/>
              </a:ext>
            </a:extLst>
          </p:cNvPr>
          <p:cNvSpPr>
            <a:spLocks xmlns:a="http://schemas.openxmlformats.org/drawingml/2006/main" noGrp="1"/>
          </p:cNvSpPr>
          <p:nvPr/>
        </p:nvSpPr>
        <p:spPr>
          <a:xfrm xmlns:a="http://schemas.openxmlformats.org/drawingml/2006/main">
            <a:off x="666750" y="57912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52D27"/>
                </a:solidFill>
                <a:latin typeface="Arial"/>
                <a:ea typeface="Arial"/>
                <a:cs typeface="Arial"/>
              </a:defRPr>
            </a:defPPr>
          </a:lstStyle>
          <a:p xmlns:a="http://schemas.openxmlformats.org/drawingml/2006/main">
            <a:pPr>
              <a:defRPr sz="1875" b="0">
                <a:solidFill>
                  <a:srgbClr val="252D27"/>
                </a:solidFill>
                <a:latin typeface="Arial"/>
                <a:ea typeface="Arial"/>
                <a:cs typeface="Arial"/>
              </a:defRPr>
            </a:pPr>
            <a:r>
              <a:rPr sz="1875" b="0">
                <a:solidFill>
                  <a:srgbClr val="252D27"/>
                </a:solidFill>
                <a:latin typeface="Arial"/>
                <a:ea typeface="Arial"/>
                <a:cs typeface="Arial"/>
              </a:rPr>
              <a:t>Named volume retains database records after container restarts.</a:t>
            </a:r>
          </a:p>
        </p:txBody>
      </p:sp>
    </p:spTree>
    <p:extLst>
      <p:ext uri="{BB962C8B-B14F-4D97-AF65-F5344CB8AC3E}">
        <p14:creationId xmlns:p14="http://schemas.microsoft.com/office/powerpoint/2010/main" val="395078006"/>
      </p:ext>
    </p:extLst>
  </p:cSld>
</p:sld>
</file>

<file path=ppt/slides/slide4.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845CD278-EFEE-4B95-AEB7-1D025B1C5DE7}"/>
              </a:ext>
            </a:extLst>
          </p:cNvPr>
          <p:cNvSpPr>
            <a:spLocks xmlns:a="http://schemas.openxmlformats.org/drawingml/2006/main" noGrp="1"/>
          </p:cNvSpPr>
          <p:nvPr/>
        </p:nvSpPr>
        <p:spPr>
          <a:xfrm xmlns:a="http://schemas.openxmlformats.org/drawingml/2006/main">
            <a:off x="619125" y="5143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52D27"/>
                </a:solidFill>
                <a:latin typeface="Arial"/>
                <a:ea typeface="Arial"/>
                <a:cs typeface="Arial"/>
              </a:defRPr>
            </a:defPPr>
          </a:lstStyle>
          <a:p xmlns:a="http://schemas.openxmlformats.org/drawingml/2006/main">
            <a:pPr>
              <a:defRPr sz="3300" b="1">
                <a:solidFill>
                  <a:srgbClr val="252D27"/>
                </a:solidFill>
                <a:latin typeface="Arial"/>
                <a:ea typeface="Arial"/>
                <a:cs typeface="Arial"/>
              </a:defRPr>
            </a:pPr>
            <a:r>
              <a:rPr sz="3300" b="1">
                <a:solidFill>
                  <a:srgbClr val="252D27"/>
                </a:solidFill>
                <a:latin typeface="Arial"/>
                <a:ea typeface="Arial"/>
                <a:cs typeface="Arial"/>
              </a:rPr>
              <a:t>Entity relationship diagram</a:t>
            </a:r>
          </a:p>
        </p:txBody>
      </p:sp>
      <p:sp>
        <p:nvSpPr>
          <p:cNvPr id="2" name="">
            <a:extLst xmlns:a="http://schemas.openxmlformats.org/drawingml/2006/main">
              <a:ext uri="{FF2B5EF4-FFF2-40B4-BE49-F238E27FC236}">
                <a16:creationId xmlns:a16="http://schemas.microsoft.com/office/drawing/2014/main" id="{8722CA6D-BD69-41BC-BD78-90B9D49DF528}"/>
              </a:ext>
            </a:extLst>
          </p:cNvPr>
          <p:cNvSpPr>
            <a:spLocks xmlns:a="http://schemas.openxmlformats.org/drawingml/2006/main" noGrp="1"/>
          </p:cNvSpPr>
          <p:nvPr/>
        </p:nvSpPr>
        <p:spPr>
          <a:xfrm xmlns:a="http://schemas.openxmlformats.org/drawingml/2006/main">
            <a:off x="11144250" y="63341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2685F"/>
                </a:solidFill>
                <a:latin typeface="Arial"/>
                <a:ea typeface="Arial"/>
                <a:cs typeface="Arial"/>
              </a:defRPr>
            </a:defPPr>
          </a:lstStyle>
          <a:p xmlns:a="http://schemas.openxmlformats.org/drawingml/2006/main">
            <a:pPr>
              <a:defRPr sz="1200" b="0">
                <a:solidFill>
                  <a:srgbClr val="62685F"/>
                </a:solidFill>
                <a:latin typeface="Arial"/>
                <a:ea typeface="Arial"/>
                <a:cs typeface="Arial"/>
              </a:defRPr>
            </a:pPr>
            <a:r>
              <a:rPr sz="1200" b="0">
                <a:solidFill>
                  <a:srgbClr val="62685F"/>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30FA1A30-4518-4354-9B6E-32476B5B03FA}"/>
              </a:ext>
            </a:extLst>
          </p:cNvPr>
          <p:cNvSpPr>
            <a:spLocks xmlns:a="http://schemas.openxmlformats.org/drawingml/2006/main" noGrp="1"/>
          </p:cNvSpPr>
          <p:nvPr/>
        </p:nvSpPr>
        <p:spPr>
          <a:xfrm xmlns:a="http://schemas.openxmlformats.org/drawingml/2006/main">
            <a:off x="619125" y="1600200"/>
            <a:ext cx="3143250" cy="4572000"/>
          </a:xfrm>
          <a:prstGeom xmlns:a="http://schemas.openxmlformats.org/drawingml/2006/main" prst="rect">
            <a:avLst/>
          </a:prstGeom>
          <a:solidFill xmlns:a="http://schemas.openxmlformats.org/drawingml/2006/main">
            <a:srgbClr val="FFFFFF"/>
          </a:solidFill>
          <a:ln xmlns:a="http://schemas.openxmlformats.org/drawingml/2006/main" w="14288">
            <a:solidFill>
              <a:srgbClr val="D3D7C9"/>
            </a:solidFill>
          </a:ln>
        </p:spPr>
      </p:sp>
      <p:sp>
        <p:nvSpPr>
          <p:cNvPr id="4" name="">
            <a:extLst xmlns:a="http://schemas.openxmlformats.org/drawingml/2006/main">
              <a:ext uri="{FF2B5EF4-FFF2-40B4-BE49-F238E27FC236}">
                <a16:creationId xmlns:a16="http://schemas.microsoft.com/office/drawing/2014/main" id="{81596E23-1704-41BE-AB21-1AF40122CA12}"/>
              </a:ext>
            </a:extLst>
          </p:cNvPr>
          <p:cNvSpPr>
            <a:spLocks xmlns:a="http://schemas.openxmlformats.org/drawingml/2006/main" noGrp="1"/>
          </p:cNvSpPr>
          <p:nvPr/>
        </p:nvSpPr>
        <p:spPr>
          <a:xfrm xmlns:a="http://schemas.openxmlformats.org/drawingml/2006/main">
            <a:off x="771525" y="1752600"/>
            <a:ext cx="2838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31584B"/>
                </a:solidFill>
                <a:latin typeface="Arial"/>
                <a:ea typeface="Arial"/>
                <a:cs typeface="Arial"/>
              </a:defRPr>
            </a:defPPr>
          </a:lstStyle>
          <a:p xmlns:a="http://schemas.openxmlformats.org/drawingml/2006/main">
            <a:pPr>
              <a:defRPr sz="2250" b="1">
                <a:solidFill>
                  <a:srgbClr val="31584B"/>
                </a:solidFill>
                <a:latin typeface="Arial"/>
                <a:ea typeface="Arial"/>
                <a:cs typeface="Arial"/>
              </a:defRPr>
            </a:pPr>
            <a:r>
              <a:rPr sz="2250" b="1">
                <a:solidFill>
                  <a:srgbClr val="31584B"/>
                </a:solidFill>
                <a:latin typeface="Arial"/>
                <a:ea typeface="Arial"/>
                <a:cs typeface="Arial"/>
              </a:rPr>
              <a:t>users</a:t>
            </a:r>
          </a:p>
        </p:txBody>
      </p:sp>
      <p:sp>
        <p:nvSpPr>
          <p:cNvPr id="5" name="">
            <a:extLst xmlns:a="http://schemas.openxmlformats.org/drawingml/2006/main">
              <a:ext uri="{FF2B5EF4-FFF2-40B4-BE49-F238E27FC236}">
                <a16:creationId xmlns:a16="http://schemas.microsoft.com/office/drawing/2014/main" id="{B6DB0AFA-5E42-42FE-909A-3AA615E92295}"/>
              </a:ext>
            </a:extLst>
          </p:cNvPr>
          <p:cNvSpPr>
            <a:spLocks xmlns:a="http://schemas.openxmlformats.org/drawingml/2006/main" noGrp="1"/>
          </p:cNvSpPr>
          <p:nvPr/>
        </p:nvSpPr>
        <p:spPr>
          <a:xfrm xmlns:a="http://schemas.openxmlformats.org/drawingml/2006/main">
            <a:off x="771525" y="2286000"/>
            <a:ext cx="2914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252D27"/>
                </a:solidFill>
                <a:latin typeface="Arial"/>
                <a:ea typeface="Arial"/>
                <a:cs typeface="Arial"/>
              </a:defRPr>
            </a:defPPr>
          </a:lstStyle>
          <a:p xmlns:a="http://schemas.openxmlformats.org/drawingml/2006/main">
            <a:pPr>
              <a:defRPr sz="1350" b="0">
                <a:solidFill>
                  <a:srgbClr val="252D27"/>
                </a:solidFill>
                <a:latin typeface="Arial"/>
                <a:ea typeface="Arial"/>
                <a:cs typeface="Arial"/>
              </a:defRPr>
            </a:pPr>
            <a:r>
              <a:rPr sz="1350" b="0">
                <a:solidFill>
                  <a:srgbClr val="252D27"/>
                </a:solidFill>
                <a:latin typeface="Arial"/>
                <a:ea typeface="Arial"/>
                <a:cs typeface="Arial"/>
              </a:rPr>
              <a:t>PK id: INT</a:t>
            </a:r>
          </a:p>
        </p:txBody>
      </p:sp>
      <p:sp>
        <p:nvSpPr>
          <p:cNvPr id="6" name="">
            <a:extLst xmlns:a="http://schemas.openxmlformats.org/drawingml/2006/main">
              <a:ext uri="{FF2B5EF4-FFF2-40B4-BE49-F238E27FC236}">
                <a16:creationId xmlns:a16="http://schemas.microsoft.com/office/drawing/2014/main" id="{8013D29E-B49C-4F65-85A9-5D4BE0E45E0B}"/>
              </a:ext>
            </a:extLst>
          </p:cNvPr>
          <p:cNvSpPr>
            <a:spLocks xmlns:a="http://schemas.openxmlformats.org/drawingml/2006/main" noGrp="1"/>
          </p:cNvSpPr>
          <p:nvPr/>
        </p:nvSpPr>
        <p:spPr>
          <a:xfrm xmlns:a="http://schemas.openxmlformats.org/drawingml/2006/main">
            <a:off x="771525" y="2524125"/>
            <a:ext cx="2914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252D27"/>
                </a:solidFill>
                <a:latin typeface="Arial"/>
                <a:ea typeface="Arial"/>
                <a:cs typeface="Arial"/>
              </a:defRPr>
            </a:defPPr>
          </a:lstStyle>
          <a:p xmlns:a="http://schemas.openxmlformats.org/drawingml/2006/main">
            <a:pPr>
              <a:defRPr sz="1350" b="0">
                <a:solidFill>
                  <a:srgbClr val="252D27"/>
                </a:solidFill>
                <a:latin typeface="Arial"/>
                <a:ea typeface="Arial"/>
                <a:cs typeface="Arial"/>
              </a:defRPr>
            </a:pPr>
            <a:r>
              <a:rPr sz="1350" b="0">
                <a:solidFill>
                  <a:srgbClr val="252D27"/>
                </a:solidFill>
                <a:latin typeface="Arial"/>
                <a:ea typeface="Arial"/>
                <a:cs typeface="Arial"/>
              </a:rPr>
              <a:t>name: VARCHAR(100)</a:t>
            </a:r>
          </a:p>
        </p:txBody>
      </p:sp>
      <p:sp>
        <p:nvSpPr>
          <p:cNvPr id="7" name="">
            <a:extLst xmlns:a="http://schemas.openxmlformats.org/drawingml/2006/main">
              <a:ext uri="{FF2B5EF4-FFF2-40B4-BE49-F238E27FC236}">
                <a16:creationId xmlns:a16="http://schemas.microsoft.com/office/drawing/2014/main" id="{2A90DA82-384E-4E10-A223-D53994693700}"/>
              </a:ext>
            </a:extLst>
          </p:cNvPr>
          <p:cNvSpPr>
            <a:spLocks xmlns:a="http://schemas.openxmlformats.org/drawingml/2006/main" noGrp="1"/>
          </p:cNvSpPr>
          <p:nvPr/>
        </p:nvSpPr>
        <p:spPr>
          <a:xfrm xmlns:a="http://schemas.openxmlformats.org/drawingml/2006/main">
            <a:off x="771525" y="2762250"/>
            <a:ext cx="2914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252D27"/>
                </a:solidFill>
                <a:latin typeface="Arial"/>
                <a:ea typeface="Arial"/>
                <a:cs typeface="Arial"/>
              </a:defRPr>
            </a:defPPr>
          </a:lstStyle>
          <a:p xmlns:a="http://schemas.openxmlformats.org/drawingml/2006/main">
            <a:pPr>
              <a:defRPr sz="1350" b="0">
                <a:solidFill>
                  <a:srgbClr val="252D27"/>
                </a:solidFill>
                <a:latin typeface="Arial"/>
                <a:ea typeface="Arial"/>
                <a:cs typeface="Arial"/>
              </a:defRPr>
            </a:pPr>
            <a:r>
              <a:rPr sz="1350" b="0">
                <a:solidFill>
                  <a:srgbClr val="252D27"/>
                </a:solidFill>
                <a:latin typeface="Arial"/>
                <a:ea typeface="Arial"/>
                <a:cs typeface="Arial"/>
              </a:rPr>
              <a:t>UQ email: VARCHAR(150)</a:t>
            </a:r>
          </a:p>
        </p:txBody>
      </p:sp>
      <p:sp>
        <p:nvSpPr>
          <p:cNvPr id="8" name="">
            <a:extLst xmlns:a="http://schemas.openxmlformats.org/drawingml/2006/main">
              <a:ext uri="{FF2B5EF4-FFF2-40B4-BE49-F238E27FC236}">
                <a16:creationId xmlns:a16="http://schemas.microsoft.com/office/drawing/2014/main" id="{D938C6B6-8348-4033-A636-1EE46468C7D1}"/>
              </a:ext>
            </a:extLst>
          </p:cNvPr>
          <p:cNvSpPr>
            <a:spLocks xmlns:a="http://schemas.openxmlformats.org/drawingml/2006/main" noGrp="1"/>
          </p:cNvSpPr>
          <p:nvPr/>
        </p:nvSpPr>
        <p:spPr>
          <a:xfrm xmlns:a="http://schemas.openxmlformats.org/drawingml/2006/main">
            <a:off x="771525" y="3000375"/>
            <a:ext cx="2914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252D27"/>
                </a:solidFill>
                <a:latin typeface="Arial"/>
                <a:ea typeface="Arial"/>
                <a:cs typeface="Arial"/>
              </a:defRPr>
            </a:defPPr>
          </a:lstStyle>
          <a:p xmlns:a="http://schemas.openxmlformats.org/drawingml/2006/main">
            <a:pPr>
              <a:defRPr sz="1350" b="0">
                <a:solidFill>
                  <a:srgbClr val="252D27"/>
                </a:solidFill>
                <a:latin typeface="Arial"/>
                <a:ea typeface="Arial"/>
                <a:cs typeface="Arial"/>
              </a:defRPr>
            </a:pPr>
            <a:r>
              <a:rPr sz="1350" b="0">
                <a:solidFill>
                  <a:srgbClr val="252D27"/>
                </a:solidFill>
                <a:latin typeface="Arial"/>
                <a:ea typeface="Arial"/>
                <a:cs typeface="Arial"/>
              </a:rPr>
              <a:t>password_hash: VARCHAR(255)</a:t>
            </a:r>
          </a:p>
        </p:txBody>
      </p:sp>
      <p:sp>
        <p:nvSpPr>
          <p:cNvPr id="9" name="">
            <a:extLst xmlns:a="http://schemas.openxmlformats.org/drawingml/2006/main">
              <a:ext uri="{FF2B5EF4-FFF2-40B4-BE49-F238E27FC236}">
                <a16:creationId xmlns:a16="http://schemas.microsoft.com/office/drawing/2014/main" id="{7F51FDD3-935D-46FD-9274-888CBA948F4E}"/>
              </a:ext>
            </a:extLst>
          </p:cNvPr>
          <p:cNvSpPr>
            <a:spLocks xmlns:a="http://schemas.openxmlformats.org/drawingml/2006/main" noGrp="1"/>
          </p:cNvSpPr>
          <p:nvPr/>
        </p:nvSpPr>
        <p:spPr>
          <a:xfrm xmlns:a="http://schemas.openxmlformats.org/drawingml/2006/main">
            <a:off x="771525" y="3238500"/>
            <a:ext cx="2914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252D27"/>
                </a:solidFill>
                <a:latin typeface="Arial"/>
                <a:ea typeface="Arial"/>
                <a:cs typeface="Arial"/>
              </a:defRPr>
            </a:defPPr>
          </a:lstStyle>
          <a:p xmlns:a="http://schemas.openxmlformats.org/drawingml/2006/main">
            <a:pPr>
              <a:defRPr sz="1350" b="0">
                <a:solidFill>
                  <a:srgbClr val="252D27"/>
                </a:solidFill>
                <a:latin typeface="Arial"/>
                <a:ea typeface="Arial"/>
                <a:cs typeface="Arial"/>
              </a:defRPr>
            </a:pPr>
            <a:r>
              <a:rPr sz="1350" b="0">
                <a:solidFill>
                  <a:srgbClr val="252D27"/>
                </a:solidFill>
                <a:latin typeface="Arial"/>
                <a:ea typeface="Arial"/>
                <a:cs typeface="Arial"/>
              </a:rPr>
              <a:t>role: admin / customer</a:t>
            </a:r>
          </a:p>
        </p:txBody>
      </p:sp>
      <p:sp>
        <p:nvSpPr>
          <p:cNvPr id="10" name="">
            <a:extLst xmlns:a="http://schemas.openxmlformats.org/drawingml/2006/main">
              <a:ext uri="{FF2B5EF4-FFF2-40B4-BE49-F238E27FC236}">
                <a16:creationId xmlns:a16="http://schemas.microsoft.com/office/drawing/2014/main" id="{557446A8-3EB5-426E-9B04-A7661B5F0F14}"/>
              </a:ext>
            </a:extLst>
          </p:cNvPr>
          <p:cNvSpPr>
            <a:spLocks xmlns:a="http://schemas.openxmlformats.org/drawingml/2006/main" noGrp="1"/>
          </p:cNvSpPr>
          <p:nvPr/>
        </p:nvSpPr>
        <p:spPr>
          <a:xfrm xmlns:a="http://schemas.openxmlformats.org/drawingml/2006/main">
            <a:off x="771525" y="3476625"/>
            <a:ext cx="2914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252D27"/>
                </a:solidFill>
                <a:latin typeface="Arial"/>
                <a:ea typeface="Arial"/>
                <a:cs typeface="Arial"/>
              </a:defRPr>
            </a:defPPr>
          </a:lstStyle>
          <a:p xmlns:a="http://schemas.openxmlformats.org/drawingml/2006/main">
            <a:pPr>
              <a:defRPr sz="1350" b="0">
                <a:solidFill>
                  <a:srgbClr val="252D27"/>
                </a:solidFill>
                <a:latin typeface="Arial"/>
                <a:ea typeface="Arial"/>
                <a:cs typeface="Arial"/>
              </a:defRPr>
            </a:pPr>
            <a:r>
              <a:rPr sz="1350" b="0">
                <a:solidFill>
                  <a:srgbClr val="252D27"/>
                </a:solidFill>
                <a:latin typeface="Arial"/>
                <a:ea typeface="Arial"/>
                <a:cs typeface="Arial"/>
              </a:rPr>
              <a:t>active: BOOLEAN</a:t>
            </a:r>
          </a:p>
        </p:txBody>
      </p:sp>
      <p:sp>
        <p:nvSpPr>
          <p:cNvPr id="11" name="">
            <a:extLst xmlns:a="http://schemas.openxmlformats.org/drawingml/2006/main">
              <a:ext uri="{FF2B5EF4-FFF2-40B4-BE49-F238E27FC236}">
                <a16:creationId xmlns:a16="http://schemas.microsoft.com/office/drawing/2014/main" id="{BFCDF758-9191-4122-B0A6-20D615442247}"/>
              </a:ext>
            </a:extLst>
          </p:cNvPr>
          <p:cNvSpPr>
            <a:spLocks xmlns:a="http://schemas.openxmlformats.org/drawingml/2006/main" noGrp="1"/>
          </p:cNvSpPr>
          <p:nvPr/>
        </p:nvSpPr>
        <p:spPr>
          <a:xfrm xmlns:a="http://schemas.openxmlformats.org/drawingml/2006/main">
            <a:off x="771525" y="3714750"/>
            <a:ext cx="2914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252D27"/>
                </a:solidFill>
                <a:latin typeface="Arial"/>
                <a:ea typeface="Arial"/>
                <a:cs typeface="Arial"/>
              </a:defRPr>
            </a:defPPr>
          </a:lstStyle>
          <a:p xmlns:a="http://schemas.openxmlformats.org/drawingml/2006/main">
            <a:pPr>
              <a:defRPr sz="1350" b="0">
                <a:solidFill>
                  <a:srgbClr val="252D27"/>
                </a:solidFill>
                <a:latin typeface="Arial"/>
                <a:ea typeface="Arial"/>
                <a:cs typeface="Arial"/>
              </a:defRPr>
            </a:pPr>
            <a:r>
              <a:rPr sz="1350" b="0">
                <a:solidFill>
                  <a:srgbClr val="252D27"/>
                </a:solidFill>
                <a:latin typeface="Arial"/>
                <a:ea typeface="Arial"/>
                <a:cs typeface="Arial"/>
              </a:rPr>
              <a:t>created_at: TIMESTAMP</a:t>
            </a:r>
          </a:p>
        </p:txBody>
      </p:sp>
      <p:sp>
        <p:nvSpPr>
          <p:cNvPr id="12" name="">
            <a:extLst xmlns:a="http://schemas.openxmlformats.org/drawingml/2006/main">
              <a:ext uri="{FF2B5EF4-FFF2-40B4-BE49-F238E27FC236}">
                <a16:creationId xmlns:a16="http://schemas.microsoft.com/office/drawing/2014/main" id="{68D49DDB-09F0-4031-AA9D-7C4B4B8A566E}"/>
              </a:ext>
            </a:extLst>
          </p:cNvPr>
          <p:cNvSpPr>
            <a:spLocks xmlns:a="http://schemas.openxmlformats.org/drawingml/2006/main" noGrp="1"/>
          </p:cNvSpPr>
          <p:nvPr/>
        </p:nvSpPr>
        <p:spPr>
          <a:xfrm xmlns:a="http://schemas.openxmlformats.org/drawingml/2006/main">
            <a:off x="4305300" y="1600200"/>
            <a:ext cx="3476625" cy="4572000"/>
          </a:xfrm>
          <a:prstGeom xmlns:a="http://schemas.openxmlformats.org/drawingml/2006/main" prst="rect">
            <a:avLst/>
          </a:prstGeom>
          <a:solidFill xmlns:a="http://schemas.openxmlformats.org/drawingml/2006/main">
            <a:srgbClr val="FFFFFF"/>
          </a:solidFill>
          <a:ln xmlns:a="http://schemas.openxmlformats.org/drawingml/2006/main" w="14288">
            <a:solidFill>
              <a:srgbClr val="D3D7C9"/>
            </a:solidFill>
          </a:ln>
        </p:spPr>
      </p:sp>
      <p:sp>
        <p:nvSpPr>
          <p:cNvPr id="13" name="">
            <a:extLst xmlns:a="http://schemas.openxmlformats.org/drawingml/2006/main">
              <a:ext uri="{FF2B5EF4-FFF2-40B4-BE49-F238E27FC236}">
                <a16:creationId xmlns:a16="http://schemas.microsoft.com/office/drawing/2014/main" id="{C407FEE7-59C1-40BB-9A48-E997D0B7A88B}"/>
              </a:ext>
            </a:extLst>
          </p:cNvPr>
          <p:cNvSpPr>
            <a:spLocks xmlns:a="http://schemas.openxmlformats.org/drawingml/2006/main" noGrp="1"/>
          </p:cNvSpPr>
          <p:nvPr/>
        </p:nvSpPr>
        <p:spPr>
          <a:xfrm xmlns:a="http://schemas.openxmlformats.org/drawingml/2006/main">
            <a:off x="4457700" y="1752600"/>
            <a:ext cx="31718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31584B"/>
                </a:solidFill>
                <a:latin typeface="Arial"/>
                <a:ea typeface="Arial"/>
                <a:cs typeface="Arial"/>
              </a:defRPr>
            </a:defPPr>
          </a:lstStyle>
          <a:p xmlns:a="http://schemas.openxmlformats.org/drawingml/2006/main">
            <a:pPr>
              <a:defRPr sz="2250" b="1">
                <a:solidFill>
                  <a:srgbClr val="31584B"/>
                </a:solidFill>
                <a:latin typeface="Arial"/>
                <a:ea typeface="Arial"/>
                <a:cs typeface="Arial"/>
              </a:defRPr>
            </a:pPr>
            <a:r>
              <a:rPr sz="2250" b="1">
                <a:solidFill>
                  <a:srgbClr val="31584B"/>
                </a:solidFill>
                <a:latin typeface="Arial"/>
                <a:ea typeface="Arial"/>
                <a:cs typeface="Arial"/>
              </a:rPr>
              <a:t>rentals</a:t>
            </a:r>
          </a:p>
        </p:txBody>
      </p:sp>
      <p:sp>
        <p:nvSpPr>
          <p:cNvPr id="14" name="">
            <a:extLst xmlns:a="http://schemas.openxmlformats.org/drawingml/2006/main">
              <a:ext uri="{FF2B5EF4-FFF2-40B4-BE49-F238E27FC236}">
                <a16:creationId xmlns:a16="http://schemas.microsoft.com/office/drawing/2014/main" id="{119EA960-B6E8-43E5-BF7A-8788D29AE3EF}"/>
              </a:ext>
            </a:extLst>
          </p:cNvPr>
          <p:cNvSpPr>
            <a:spLocks xmlns:a="http://schemas.openxmlformats.org/drawingml/2006/main" noGrp="1"/>
          </p:cNvSpPr>
          <p:nvPr/>
        </p:nvSpPr>
        <p:spPr>
          <a:xfrm xmlns:a="http://schemas.openxmlformats.org/drawingml/2006/main">
            <a:off x="4457700" y="2286000"/>
            <a:ext cx="3248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252D27"/>
                </a:solidFill>
                <a:latin typeface="Arial"/>
                <a:ea typeface="Arial"/>
                <a:cs typeface="Arial"/>
              </a:defRPr>
            </a:defPPr>
          </a:lstStyle>
          <a:p xmlns:a="http://schemas.openxmlformats.org/drawingml/2006/main">
            <a:pPr>
              <a:defRPr sz="1425" b="0">
                <a:solidFill>
                  <a:srgbClr val="252D27"/>
                </a:solidFill>
                <a:latin typeface="Arial"/>
                <a:ea typeface="Arial"/>
                <a:cs typeface="Arial"/>
              </a:defRPr>
            </a:pPr>
            <a:r>
              <a:rPr sz="1425" b="0">
                <a:solidFill>
                  <a:srgbClr val="252D27"/>
                </a:solidFill>
                <a:latin typeface="Arial"/>
                <a:ea typeface="Arial"/>
                <a:cs typeface="Arial"/>
              </a:rPr>
              <a:t>PK id: INT</a:t>
            </a:r>
          </a:p>
        </p:txBody>
      </p:sp>
      <p:sp>
        <p:nvSpPr>
          <p:cNvPr id="15" name="">
            <a:extLst xmlns:a="http://schemas.openxmlformats.org/drawingml/2006/main">
              <a:ext uri="{FF2B5EF4-FFF2-40B4-BE49-F238E27FC236}">
                <a16:creationId xmlns:a16="http://schemas.microsoft.com/office/drawing/2014/main" id="{9CB46FD1-CF22-4ED7-9BCB-E0E3B2E4092D}"/>
              </a:ext>
            </a:extLst>
          </p:cNvPr>
          <p:cNvSpPr>
            <a:spLocks xmlns:a="http://schemas.openxmlformats.org/drawingml/2006/main" noGrp="1"/>
          </p:cNvSpPr>
          <p:nvPr/>
        </p:nvSpPr>
        <p:spPr>
          <a:xfrm xmlns:a="http://schemas.openxmlformats.org/drawingml/2006/main">
            <a:off x="4457700" y="2524125"/>
            <a:ext cx="3248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252D27"/>
                </a:solidFill>
                <a:latin typeface="Arial"/>
                <a:ea typeface="Arial"/>
                <a:cs typeface="Arial"/>
              </a:defRPr>
            </a:defPPr>
          </a:lstStyle>
          <a:p xmlns:a="http://schemas.openxmlformats.org/drawingml/2006/main">
            <a:pPr>
              <a:defRPr sz="1425" b="0">
                <a:solidFill>
                  <a:srgbClr val="252D27"/>
                </a:solidFill>
                <a:latin typeface="Arial"/>
                <a:ea typeface="Arial"/>
                <a:cs typeface="Arial"/>
              </a:defRPr>
            </a:pPr>
            <a:r>
              <a:rPr sz="1425" b="0">
                <a:solidFill>
                  <a:srgbClr val="252D27"/>
                </a:solidFill>
                <a:latin typeface="Arial"/>
                <a:ea typeface="Arial"/>
                <a:cs typeface="Arial"/>
              </a:rPr>
              <a:t>FK customer_id: users.id</a:t>
            </a:r>
          </a:p>
        </p:txBody>
      </p:sp>
      <p:sp>
        <p:nvSpPr>
          <p:cNvPr id="16" name="">
            <a:extLst xmlns:a="http://schemas.openxmlformats.org/drawingml/2006/main">
              <a:ext uri="{FF2B5EF4-FFF2-40B4-BE49-F238E27FC236}">
                <a16:creationId xmlns:a16="http://schemas.microsoft.com/office/drawing/2014/main" id="{0904CCA5-F1B3-4944-8D76-C832B6312BB4}"/>
              </a:ext>
            </a:extLst>
          </p:cNvPr>
          <p:cNvSpPr>
            <a:spLocks xmlns:a="http://schemas.openxmlformats.org/drawingml/2006/main" noGrp="1"/>
          </p:cNvSpPr>
          <p:nvPr/>
        </p:nvSpPr>
        <p:spPr>
          <a:xfrm xmlns:a="http://schemas.openxmlformats.org/drawingml/2006/main">
            <a:off x="4457700" y="2762250"/>
            <a:ext cx="3248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252D27"/>
                </a:solidFill>
                <a:latin typeface="Arial"/>
                <a:ea typeface="Arial"/>
                <a:cs typeface="Arial"/>
              </a:defRPr>
            </a:defPPr>
          </a:lstStyle>
          <a:p xmlns:a="http://schemas.openxmlformats.org/drawingml/2006/main">
            <a:pPr>
              <a:defRPr sz="1425" b="0">
                <a:solidFill>
                  <a:srgbClr val="252D27"/>
                </a:solidFill>
                <a:latin typeface="Arial"/>
                <a:ea typeface="Arial"/>
                <a:cs typeface="Arial"/>
              </a:defRPr>
            </a:pPr>
            <a:r>
              <a:rPr sz="1425" b="0">
                <a:solidFill>
                  <a:srgbClr val="252D27"/>
                </a:solidFill>
                <a:latin typeface="Arial"/>
                <a:ea typeface="Arial"/>
                <a:cs typeface="Arial"/>
              </a:rPr>
              <a:t>FK media_id: media.id</a:t>
            </a:r>
          </a:p>
        </p:txBody>
      </p:sp>
      <p:sp>
        <p:nvSpPr>
          <p:cNvPr id="17" name="">
            <a:extLst xmlns:a="http://schemas.openxmlformats.org/drawingml/2006/main">
              <a:ext uri="{FF2B5EF4-FFF2-40B4-BE49-F238E27FC236}">
                <a16:creationId xmlns:a16="http://schemas.microsoft.com/office/drawing/2014/main" id="{D25208F6-DC24-4DB0-86E0-BDD9D489BF0F}"/>
              </a:ext>
            </a:extLst>
          </p:cNvPr>
          <p:cNvSpPr>
            <a:spLocks xmlns:a="http://schemas.openxmlformats.org/drawingml/2006/main" noGrp="1"/>
          </p:cNvSpPr>
          <p:nvPr/>
        </p:nvSpPr>
        <p:spPr>
          <a:xfrm xmlns:a="http://schemas.openxmlformats.org/drawingml/2006/main">
            <a:off x="4457700" y="3000375"/>
            <a:ext cx="3248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252D27"/>
                </a:solidFill>
                <a:latin typeface="Arial"/>
                <a:ea typeface="Arial"/>
                <a:cs typeface="Arial"/>
              </a:defRPr>
            </a:defPPr>
          </a:lstStyle>
          <a:p xmlns:a="http://schemas.openxmlformats.org/drawingml/2006/main">
            <a:pPr>
              <a:defRPr sz="1425" b="0">
                <a:solidFill>
                  <a:srgbClr val="252D27"/>
                </a:solidFill>
                <a:latin typeface="Arial"/>
                <a:ea typeface="Arial"/>
                <a:cs typeface="Arial"/>
              </a:defRPr>
            </a:pPr>
            <a:r>
              <a:rPr sz="1425" b="0">
                <a:solidFill>
                  <a:srgbClr val="252D27"/>
                </a:solidFill>
                <a:latin typeface="Arial"/>
                <a:ea typeface="Arial"/>
                <a:cs typeface="Arial"/>
              </a:rPr>
              <a:t>request_key: CHAR(36)</a:t>
            </a:r>
          </a:p>
        </p:txBody>
      </p:sp>
      <p:sp>
        <p:nvSpPr>
          <p:cNvPr id="18" name="">
            <a:extLst xmlns:a="http://schemas.openxmlformats.org/drawingml/2006/main">
              <a:ext uri="{FF2B5EF4-FFF2-40B4-BE49-F238E27FC236}">
                <a16:creationId xmlns:a16="http://schemas.microsoft.com/office/drawing/2014/main" id="{854EE061-D0B4-44D1-9B27-E298991FAB78}"/>
              </a:ext>
            </a:extLst>
          </p:cNvPr>
          <p:cNvSpPr>
            <a:spLocks xmlns:a="http://schemas.openxmlformats.org/drawingml/2006/main" noGrp="1"/>
          </p:cNvSpPr>
          <p:nvPr/>
        </p:nvSpPr>
        <p:spPr>
          <a:xfrm xmlns:a="http://schemas.openxmlformats.org/drawingml/2006/main">
            <a:off x="4457700" y="3238500"/>
            <a:ext cx="3248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252D27"/>
                </a:solidFill>
                <a:latin typeface="Arial"/>
                <a:ea typeface="Arial"/>
                <a:cs typeface="Arial"/>
              </a:defRPr>
            </a:defPPr>
          </a:lstStyle>
          <a:p xmlns:a="http://schemas.openxmlformats.org/drawingml/2006/main">
            <a:pPr>
              <a:defRPr sz="1425" b="0">
                <a:solidFill>
                  <a:srgbClr val="252D27"/>
                </a:solidFill>
                <a:latin typeface="Arial"/>
                <a:ea typeface="Arial"/>
                <a:cs typeface="Arial"/>
              </a:defRPr>
            </a:pPr>
            <a:r>
              <a:rPr sz="1425" b="0">
                <a:solidFill>
                  <a:srgbClr val="252D27"/>
                </a:solidFill>
                <a:latin typeface="Arial"/>
                <a:ea typeface="Arial"/>
                <a:cs typeface="Arial"/>
              </a:rPr>
              <a:t>rental_days: TINYINT</a:t>
            </a:r>
          </a:p>
        </p:txBody>
      </p:sp>
      <p:sp>
        <p:nvSpPr>
          <p:cNvPr id="19" name="">
            <a:extLst xmlns:a="http://schemas.openxmlformats.org/drawingml/2006/main">
              <a:ext uri="{FF2B5EF4-FFF2-40B4-BE49-F238E27FC236}">
                <a16:creationId xmlns:a16="http://schemas.microsoft.com/office/drawing/2014/main" id="{ABCD3845-F9E4-443C-8003-BCD071CFDF04}"/>
              </a:ext>
            </a:extLst>
          </p:cNvPr>
          <p:cNvSpPr>
            <a:spLocks xmlns:a="http://schemas.openxmlformats.org/drawingml/2006/main" noGrp="1"/>
          </p:cNvSpPr>
          <p:nvPr/>
        </p:nvSpPr>
        <p:spPr>
          <a:xfrm xmlns:a="http://schemas.openxmlformats.org/drawingml/2006/main">
            <a:off x="4457700" y="3476625"/>
            <a:ext cx="3248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252D27"/>
                </a:solidFill>
                <a:latin typeface="Arial"/>
                <a:ea typeface="Arial"/>
                <a:cs typeface="Arial"/>
              </a:defRPr>
            </a:defPPr>
          </a:lstStyle>
          <a:p xmlns:a="http://schemas.openxmlformats.org/drawingml/2006/main">
            <a:pPr>
              <a:defRPr sz="1425" b="0">
                <a:solidFill>
                  <a:srgbClr val="252D27"/>
                </a:solidFill>
                <a:latin typeface="Arial"/>
                <a:ea typeface="Arial"/>
                <a:cs typeface="Arial"/>
              </a:defRPr>
            </a:pPr>
            <a:r>
              <a:rPr sz="1425" b="0">
                <a:solidFill>
                  <a:srgbClr val="252D27"/>
                </a:solidFill>
                <a:latin typeface="Arial"/>
                <a:ea typeface="Arial"/>
                <a:cs typeface="Arial"/>
              </a:rPr>
              <a:t>rented_on: DATE</a:t>
            </a:r>
          </a:p>
        </p:txBody>
      </p:sp>
      <p:sp>
        <p:nvSpPr>
          <p:cNvPr id="20" name="">
            <a:extLst xmlns:a="http://schemas.openxmlformats.org/drawingml/2006/main">
              <a:ext uri="{FF2B5EF4-FFF2-40B4-BE49-F238E27FC236}">
                <a16:creationId xmlns:a16="http://schemas.microsoft.com/office/drawing/2014/main" id="{64B501FC-B6B6-46FD-84BF-D1E8E6CD1F35}"/>
              </a:ext>
            </a:extLst>
          </p:cNvPr>
          <p:cNvSpPr>
            <a:spLocks xmlns:a="http://schemas.openxmlformats.org/drawingml/2006/main" noGrp="1"/>
          </p:cNvSpPr>
          <p:nvPr/>
        </p:nvSpPr>
        <p:spPr>
          <a:xfrm xmlns:a="http://schemas.openxmlformats.org/drawingml/2006/main">
            <a:off x="4457700" y="3714750"/>
            <a:ext cx="3248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252D27"/>
                </a:solidFill>
                <a:latin typeface="Arial"/>
                <a:ea typeface="Arial"/>
                <a:cs typeface="Arial"/>
              </a:defRPr>
            </a:defPPr>
          </a:lstStyle>
          <a:p xmlns:a="http://schemas.openxmlformats.org/drawingml/2006/main">
            <a:pPr>
              <a:defRPr sz="1425" b="0">
                <a:solidFill>
                  <a:srgbClr val="252D27"/>
                </a:solidFill>
                <a:latin typeface="Arial"/>
                <a:ea typeface="Arial"/>
                <a:cs typeface="Arial"/>
              </a:defRPr>
            </a:pPr>
            <a:r>
              <a:rPr sz="1425" b="0">
                <a:solidFill>
                  <a:srgbClr val="252D27"/>
                </a:solidFill>
                <a:latin typeface="Arial"/>
                <a:ea typeface="Arial"/>
                <a:cs typeface="Arial"/>
              </a:rPr>
              <a:t>due_on: DATE</a:t>
            </a:r>
          </a:p>
        </p:txBody>
      </p:sp>
      <p:sp>
        <p:nvSpPr>
          <p:cNvPr id="21" name="">
            <a:extLst xmlns:a="http://schemas.openxmlformats.org/drawingml/2006/main">
              <a:ext uri="{FF2B5EF4-FFF2-40B4-BE49-F238E27FC236}">
                <a16:creationId xmlns:a16="http://schemas.microsoft.com/office/drawing/2014/main" id="{1C7F3E12-6A8B-4AD2-A8FA-EEA3B2A26926}"/>
              </a:ext>
            </a:extLst>
          </p:cNvPr>
          <p:cNvSpPr>
            <a:spLocks xmlns:a="http://schemas.openxmlformats.org/drawingml/2006/main" noGrp="1"/>
          </p:cNvSpPr>
          <p:nvPr/>
        </p:nvSpPr>
        <p:spPr>
          <a:xfrm xmlns:a="http://schemas.openxmlformats.org/drawingml/2006/main">
            <a:off x="4457700" y="3952875"/>
            <a:ext cx="3248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252D27"/>
                </a:solidFill>
                <a:latin typeface="Arial"/>
                <a:ea typeface="Arial"/>
                <a:cs typeface="Arial"/>
              </a:defRPr>
            </a:defPPr>
          </a:lstStyle>
          <a:p xmlns:a="http://schemas.openxmlformats.org/drawingml/2006/main">
            <a:pPr>
              <a:defRPr sz="1425" b="0">
                <a:solidFill>
                  <a:srgbClr val="252D27"/>
                </a:solidFill>
                <a:latin typeface="Arial"/>
                <a:ea typeface="Arial"/>
                <a:cs typeface="Arial"/>
              </a:defRPr>
            </a:pPr>
            <a:r>
              <a:rPr sz="1425" b="0">
                <a:solidFill>
                  <a:srgbClr val="252D27"/>
                </a:solidFill>
                <a:latin typeface="Arial"/>
                <a:ea typeface="Arial"/>
                <a:cs typeface="Arial"/>
              </a:rPr>
              <a:t>returned_on: DATE NULL</a:t>
            </a:r>
          </a:p>
        </p:txBody>
      </p:sp>
      <p:sp>
        <p:nvSpPr>
          <p:cNvPr id="22" name="">
            <a:extLst xmlns:a="http://schemas.openxmlformats.org/drawingml/2006/main">
              <a:ext uri="{FF2B5EF4-FFF2-40B4-BE49-F238E27FC236}">
                <a16:creationId xmlns:a16="http://schemas.microsoft.com/office/drawing/2014/main" id="{3698ADEC-EFB8-4555-A63D-4D9C6BB3E76B}"/>
              </a:ext>
            </a:extLst>
          </p:cNvPr>
          <p:cNvSpPr>
            <a:spLocks xmlns:a="http://schemas.openxmlformats.org/drawingml/2006/main" noGrp="1"/>
          </p:cNvSpPr>
          <p:nvPr/>
        </p:nvSpPr>
        <p:spPr>
          <a:xfrm xmlns:a="http://schemas.openxmlformats.org/drawingml/2006/main">
            <a:off x="4457700" y="4191000"/>
            <a:ext cx="3248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252D27"/>
                </a:solidFill>
                <a:latin typeface="Arial"/>
                <a:ea typeface="Arial"/>
                <a:cs typeface="Arial"/>
              </a:defRPr>
            </a:defPPr>
          </a:lstStyle>
          <a:p xmlns:a="http://schemas.openxmlformats.org/drawingml/2006/main">
            <a:pPr>
              <a:defRPr sz="1425" b="0">
                <a:solidFill>
                  <a:srgbClr val="252D27"/>
                </a:solidFill>
                <a:latin typeface="Arial"/>
                <a:ea typeface="Arial"/>
                <a:cs typeface="Arial"/>
              </a:defRPr>
            </a:pPr>
            <a:r>
              <a:rPr sz="1425" b="0">
                <a:solidFill>
                  <a:srgbClr val="252D27"/>
                </a:solidFill>
                <a:latin typeface="Arial"/>
                <a:ea typeface="Arial"/>
                <a:cs typeface="Arial"/>
              </a:rPr>
              <a:t>daily_fee: DECIMAL(10,2)</a:t>
            </a:r>
          </a:p>
        </p:txBody>
      </p:sp>
      <p:sp>
        <p:nvSpPr>
          <p:cNvPr id="23" name="">
            <a:extLst xmlns:a="http://schemas.openxmlformats.org/drawingml/2006/main">
              <a:ext uri="{FF2B5EF4-FFF2-40B4-BE49-F238E27FC236}">
                <a16:creationId xmlns:a16="http://schemas.microsoft.com/office/drawing/2014/main" id="{24546005-DB63-420E-A9AF-F79652396ED7}"/>
              </a:ext>
            </a:extLst>
          </p:cNvPr>
          <p:cNvSpPr>
            <a:spLocks xmlns:a="http://schemas.openxmlformats.org/drawingml/2006/main" noGrp="1"/>
          </p:cNvSpPr>
          <p:nvPr/>
        </p:nvSpPr>
        <p:spPr>
          <a:xfrm xmlns:a="http://schemas.openxmlformats.org/drawingml/2006/main">
            <a:off x="4457700" y="4429125"/>
            <a:ext cx="3248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252D27"/>
                </a:solidFill>
                <a:latin typeface="Arial"/>
                <a:ea typeface="Arial"/>
                <a:cs typeface="Arial"/>
              </a:defRPr>
            </a:defPPr>
          </a:lstStyle>
          <a:p xmlns:a="http://schemas.openxmlformats.org/drawingml/2006/main">
            <a:pPr>
              <a:defRPr sz="1425" b="0">
                <a:solidFill>
                  <a:srgbClr val="252D27"/>
                </a:solidFill>
                <a:latin typeface="Arial"/>
                <a:ea typeface="Arial"/>
                <a:cs typeface="Arial"/>
              </a:defRPr>
            </a:pPr>
            <a:r>
              <a:rPr sz="1425" b="0">
                <a:solidFill>
                  <a:srgbClr val="252D27"/>
                </a:solidFill>
                <a:latin typeface="Arial"/>
                <a:ea typeface="Arial"/>
                <a:cs typeface="Arial"/>
              </a:rPr>
              <a:t>daily_late_fee: DECIMAL(10,2)</a:t>
            </a:r>
          </a:p>
        </p:txBody>
      </p:sp>
      <p:sp>
        <p:nvSpPr>
          <p:cNvPr id="24" name="">
            <a:extLst xmlns:a="http://schemas.openxmlformats.org/drawingml/2006/main">
              <a:ext uri="{FF2B5EF4-FFF2-40B4-BE49-F238E27FC236}">
                <a16:creationId xmlns:a16="http://schemas.microsoft.com/office/drawing/2014/main" id="{769B3724-B0E0-4908-B67B-71FC81C1B544}"/>
              </a:ext>
            </a:extLst>
          </p:cNvPr>
          <p:cNvSpPr>
            <a:spLocks xmlns:a="http://schemas.openxmlformats.org/drawingml/2006/main" noGrp="1"/>
          </p:cNvSpPr>
          <p:nvPr/>
        </p:nvSpPr>
        <p:spPr>
          <a:xfrm xmlns:a="http://schemas.openxmlformats.org/drawingml/2006/main">
            <a:off x="4457700" y="4667250"/>
            <a:ext cx="3248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252D27"/>
                </a:solidFill>
                <a:latin typeface="Arial"/>
                <a:ea typeface="Arial"/>
                <a:cs typeface="Arial"/>
              </a:defRPr>
            </a:defPPr>
          </a:lstStyle>
          <a:p xmlns:a="http://schemas.openxmlformats.org/drawingml/2006/main">
            <a:pPr>
              <a:defRPr sz="1425" b="0">
                <a:solidFill>
                  <a:srgbClr val="252D27"/>
                </a:solidFill>
                <a:latin typeface="Arial"/>
                <a:ea typeface="Arial"/>
                <a:cs typeface="Arial"/>
              </a:defRPr>
            </a:pPr>
            <a:r>
              <a:rPr sz="1425" b="0">
                <a:solidFill>
                  <a:srgbClr val="252D27"/>
                </a:solidFill>
                <a:latin typeface="Arial"/>
                <a:ea typeface="Arial"/>
                <a:cs typeface="Arial"/>
              </a:rPr>
              <a:t>rental_fee: DECIMAL(10,2)</a:t>
            </a:r>
          </a:p>
        </p:txBody>
      </p:sp>
      <p:sp>
        <p:nvSpPr>
          <p:cNvPr id="25" name="">
            <a:extLst xmlns:a="http://schemas.openxmlformats.org/drawingml/2006/main">
              <a:ext uri="{FF2B5EF4-FFF2-40B4-BE49-F238E27FC236}">
                <a16:creationId xmlns:a16="http://schemas.microsoft.com/office/drawing/2014/main" id="{AE68C92D-3D6C-459A-B2F9-31924617D777}"/>
              </a:ext>
            </a:extLst>
          </p:cNvPr>
          <p:cNvSpPr>
            <a:spLocks xmlns:a="http://schemas.openxmlformats.org/drawingml/2006/main" noGrp="1"/>
          </p:cNvSpPr>
          <p:nvPr/>
        </p:nvSpPr>
        <p:spPr>
          <a:xfrm xmlns:a="http://schemas.openxmlformats.org/drawingml/2006/main">
            <a:off x="4457700" y="4905375"/>
            <a:ext cx="3248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252D27"/>
                </a:solidFill>
                <a:latin typeface="Arial"/>
                <a:ea typeface="Arial"/>
                <a:cs typeface="Arial"/>
              </a:defRPr>
            </a:defPPr>
          </a:lstStyle>
          <a:p xmlns:a="http://schemas.openxmlformats.org/drawingml/2006/main">
            <a:pPr>
              <a:defRPr sz="1425" b="0">
                <a:solidFill>
                  <a:srgbClr val="252D27"/>
                </a:solidFill>
                <a:latin typeface="Arial"/>
                <a:ea typeface="Arial"/>
                <a:cs typeface="Arial"/>
              </a:defRPr>
            </a:pPr>
            <a:r>
              <a:rPr sz="1425" b="0">
                <a:solidFill>
                  <a:srgbClr val="252D27"/>
                </a:solidFill>
                <a:latin typeface="Arial"/>
                <a:ea typeface="Arial"/>
                <a:cs typeface="Arial"/>
              </a:rPr>
              <a:t>late_fee: DECIMAL(10,2)</a:t>
            </a:r>
          </a:p>
        </p:txBody>
      </p:sp>
      <p:sp>
        <p:nvSpPr>
          <p:cNvPr id="26" name="">
            <a:extLst xmlns:a="http://schemas.openxmlformats.org/drawingml/2006/main">
              <a:ext uri="{FF2B5EF4-FFF2-40B4-BE49-F238E27FC236}">
                <a16:creationId xmlns:a16="http://schemas.microsoft.com/office/drawing/2014/main" id="{352166AD-E509-435A-AAA8-3C03EA848023}"/>
              </a:ext>
            </a:extLst>
          </p:cNvPr>
          <p:cNvSpPr>
            <a:spLocks xmlns:a="http://schemas.openxmlformats.org/drawingml/2006/main" noGrp="1"/>
          </p:cNvSpPr>
          <p:nvPr/>
        </p:nvSpPr>
        <p:spPr>
          <a:xfrm xmlns:a="http://schemas.openxmlformats.org/drawingml/2006/main">
            <a:off x="4457700" y="5143500"/>
            <a:ext cx="3248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252D27"/>
                </a:solidFill>
                <a:latin typeface="Arial"/>
                <a:ea typeface="Arial"/>
                <a:cs typeface="Arial"/>
              </a:defRPr>
            </a:defPPr>
          </a:lstStyle>
          <a:p xmlns:a="http://schemas.openxmlformats.org/drawingml/2006/main">
            <a:pPr>
              <a:defRPr sz="1425" b="0">
                <a:solidFill>
                  <a:srgbClr val="252D27"/>
                </a:solidFill>
                <a:latin typeface="Arial"/>
                <a:ea typeface="Arial"/>
                <a:cs typeface="Arial"/>
              </a:defRPr>
            </a:pPr>
            <a:r>
              <a:rPr sz="1425" b="0">
                <a:solidFill>
                  <a:srgbClr val="252D27"/>
                </a:solidFill>
                <a:latin typeface="Arial"/>
                <a:ea typeface="Arial"/>
                <a:cs typeface="Arial"/>
              </a:rPr>
              <a:t>total: DECIMAL(10,2)</a:t>
            </a:r>
          </a:p>
        </p:txBody>
      </p:sp>
      <p:sp>
        <p:nvSpPr>
          <p:cNvPr id="27" name="">
            <a:extLst xmlns:a="http://schemas.openxmlformats.org/drawingml/2006/main">
              <a:ext uri="{FF2B5EF4-FFF2-40B4-BE49-F238E27FC236}">
                <a16:creationId xmlns:a16="http://schemas.microsoft.com/office/drawing/2014/main" id="{82637366-0F74-4E4B-9F79-9B772EB99B6C}"/>
              </a:ext>
            </a:extLst>
          </p:cNvPr>
          <p:cNvSpPr>
            <a:spLocks xmlns:a="http://schemas.openxmlformats.org/drawingml/2006/main" noGrp="1"/>
          </p:cNvSpPr>
          <p:nvPr/>
        </p:nvSpPr>
        <p:spPr>
          <a:xfrm xmlns:a="http://schemas.openxmlformats.org/drawingml/2006/main">
            <a:off x="4457700" y="5381625"/>
            <a:ext cx="3248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252D27"/>
                </a:solidFill>
                <a:latin typeface="Arial"/>
                <a:ea typeface="Arial"/>
                <a:cs typeface="Arial"/>
              </a:defRPr>
            </a:defPPr>
          </a:lstStyle>
          <a:p xmlns:a="http://schemas.openxmlformats.org/drawingml/2006/main">
            <a:pPr>
              <a:defRPr sz="1425" b="0">
                <a:solidFill>
                  <a:srgbClr val="252D27"/>
                </a:solidFill>
                <a:latin typeface="Arial"/>
                <a:ea typeface="Arial"/>
                <a:cs typeface="Arial"/>
              </a:defRPr>
            </a:pPr>
            <a:r>
              <a:rPr sz="1425" b="0">
                <a:solidFill>
                  <a:srgbClr val="252D27"/>
                </a:solidFill>
                <a:latin typeface="Arial"/>
                <a:ea typeface="Arial"/>
                <a:cs typeface="Arial"/>
              </a:rPr>
              <a:t>created_at: TIMESTAMP</a:t>
            </a:r>
          </a:p>
        </p:txBody>
      </p:sp>
      <p:sp>
        <p:nvSpPr>
          <p:cNvPr id="28" name="">
            <a:extLst xmlns:a="http://schemas.openxmlformats.org/drawingml/2006/main">
              <a:ext uri="{FF2B5EF4-FFF2-40B4-BE49-F238E27FC236}">
                <a16:creationId xmlns:a16="http://schemas.microsoft.com/office/drawing/2014/main" id="{912243FD-D13D-45B1-B044-D7BC8C36BFA0}"/>
              </a:ext>
            </a:extLst>
          </p:cNvPr>
          <p:cNvSpPr>
            <a:spLocks xmlns:a="http://schemas.openxmlformats.org/drawingml/2006/main" noGrp="1"/>
          </p:cNvSpPr>
          <p:nvPr/>
        </p:nvSpPr>
        <p:spPr>
          <a:xfrm xmlns:a="http://schemas.openxmlformats.org/drawingml/2006/main">
            <a:off x="4457700" y="5619750"/>
            <a:ext cx="3248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252D27"/>
                </a:solidFill>
                <a:latin typeface="Arial"/>
                <a:ea typeface="Arial"/>
                <a:cs typeface="Arial"/>
              </a:defRPr>
            </a:defPPr>
          </a:lstStyle>
          <a:p xmlns:a="http://schemas.openxmlformats.org/drawingml/2006/main">
            <a:pPr>
              <a:defRPr sz="1425" b="0">
                <a:solidFill>
                  <a:srgbClr val="252D27"/>
                </a:solidFill>
                <a:latin typeface="Arial"/>
                <a:ea typeface="Arial"/>
                <a:cs typeface="Arial"/>
              </a:defRPr>
            </a:pPr>
            <a:r>
              <a:rPr sz="1425" b="0">
                <a:solidFill>
                  <a:srgbClr val="252D27"/>
                </a:solidFill>
                <a:latin typeface="Arial"/>
                <a:ea typeface="Arial"/>
                <a:cs typeface="Arial"/>
              </a:rPr>
              <a:t>UQ (customer_id, request_key)</a:t>
            </a:r>
          </a:p>
        </p:txBody>
      </p:sp>
      <p:sp>
        <p:nvSpPr>
          <p:cNvPr id="29" name="">
            <a:extLst xmlns:a="http://schemas.openxmlformats.org/drawingml/2006/main">
              <a:ext uri="{FF2B5EF4-FFF2-40B4-BE49-F238E27FC236}">
                <a16:creationId xmlns:a16="http://schemas.microsoft.com/office/drawing/2014/main" id="{16B78B5E-229B-417C-88B7-67CFD26C15FE}"/>
              </a:ext>
            </a:extLst>
          </p:cNvPr>
          <p:cNvSpPr>
            <a:spLocks xmlns:a="http://schemas.openxmlformats.org/drawingml/2006/main" noGrp="1"/>
          </p:cNvSpPr>
          <p:nvPr/>
        </p:nvSpPr>
        <p:spPr>
          <a:xfrm xmlns:a="http://schemas.openxmlformats.org/drawingml/2006/main">
            <a:off x="8705850" y="1600200"/>
            <a:ext cx="2857500" cy="4572000"/>
          </a:xfrm>
          <a:prstGeom xmlns:a="http://schemas.openxmlformats.org/drawingml/2006/main" prst="rect">
            <a:avLst/>
          </a:prstGeom>
          <a:solidFill xmlns:a="http://schemas.openxmlformats.org/drawingml/2006/main">
            <a:srgbClr val="FFFFFF"/>
          </a:solidFill>
          <a:ln xmlns:a="http://schemas.openxmlformats.org/drawingml/2006/main" w="14288">
            <a:solidFill>
              <a:srgbClr val="D3D7C9"/>
            </a:solidFill>
          </a:ln>
        </p:spPr>
      </p:sp>
      <p:sp>
        <p:nvSpPr>
          <p:cNvPr id="30" name="">
            <a:extLst xmlns:a="http://schemas.openxmlformats.org/drawingml/2006/main">
              <a:ext uri="{FF2B5EF4-FFF2-40B4-BE49-F238E27FC236}">
                <a16:creationId xmlns:a16="http://schemas.microsoft.com/office/drawing/2014/main" id="{90B81888-EB65-4FF6-A51B-862947DE0BE0}"/>
              </a:ext>
            </a:extLst>
          </p:cNvPr>
          <p:cNvSpPr>
            <a:spLocks xmlns:a="http://schemas.openxmlformats.org/drawingml/2006/main" noGrp="1"/>
          </p:cNvSpPr>
          <p:nvPr/>
        </p:nvSpPr>
        <p:spPr>
          <a:xfrm xmlns:a="http://schemas.openxmlformats.org/drawingml/2006/main">
            <a:off x="8858250" y="1752600"/>
            <a:ext cx="2552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31584B"/>
                </a:solidFill>
                <a:latin typeface="Arial"/>
                <a:ea typeface="Arial"/>
                <a:cs typeface="Arial"/>
              </a:defRPr>
            </a:defPPr>
          </a:lstStyle>
          <a:p xmlns:a="http://schemas.openxmlformats.org/drawingml/2006/main">
            <a:pPr>
              <a:defRPr sz="2250" b="1">
                <a:solidFill>
                  <a:srgbClr val="31584B"/>
                </a:solidFill>
                <a:latin typeface="Arial"/>
                <a:ea typeface="Arial"/>
                <a:cs typeface="Arial"/>
              </a:defRPr>
            </a:pPr>
            <a:r>
              <a:rPr sz="2250" b="1">
                <a:solidFill>
                  <a:srgbClr val="31584B"/>
                </a:solidFill>
                <a:latin typeface="Arial"/>
                <a:ea typeface="Arial"/>
                <a:cs typeface="Arial"/>
              </a:rPr>
              <a:t>media</a:t>
            </a:r>
          </a:p>
        </p:txBody>
      </p:sp>
      <p:sp>
        <p:nvSpPr>
          <p:cNvPr id="31" name="">
            <a:extLst xmlns:a="http://schemas.openxmlformats.org/drawingml/2006/main">
              <a:ext uri="{FF2B5EF4-FFF2-40B4-BE49-F238E27FC236}">
                <a16:creationId xmlns:a16="http://schemas.microsoft.com/office/drawing/2014/main" id="{6C524418-DD06-42CE-B835-5777CF6C8581}"/>
              </a:ext>
            </a:extLst>
          </p:cNvPr>
          <p:cNvSpPr>
            <a:spLocks xmlns:a="http://schemas.openxmlformats.org/drawingml/2006/main" noGrp="1"/>
          </p:cNvSpPr>
          <p:nvPr/>
        </p:nvSpPr>
        <p:spPr>
          <a:xfrm xmlns:a="http://schemas.openxmlformats.org/drawingml/2006/main">
            <a:off x="8858250" y="2286000"/>
            <a:ext cx="2628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252D27"/>
                </a:solidFill>
                <a:latin typeface="Arial"/>
                <a:ea typeface="Arial"/>
                <a:cs typeface="Arial"/>
              </a:defRPr>
            </a:defPPr>
          </a:lstStyle>
          <a:p xmlns:a="http://schemas.openxmlformats.org/drawingml/2006/main">
            <a:pPr>
              <a:defRPr sz="1425" b="0">
                <a:solidFill>
                  <a:srgbClr val="252D27"/>
                </a:solidFill>
                <a:latin typeface="Arial"/>
                <a:ea typeface="Arial"/>
                <a:cs typeface="Arial"/>
              </a:defRPr>
            </a:pPr>
            <a:r>
              <a:rPr sz="1425" b="0">
                <a:solidFill>
                  <a:srgbClr val="252D27"/>
                </a:solidFill>
                <a:latin typeface="Arial"/>
                <a:ea typeface="Arial"/>
                <a:cs typeface="Arial"/>
              </a:rPr>
              <a:t>PK id: INT</a:t>
            </a:r>
          </a:p>
        </p:txBody>
      </p:sp>
      <p:sp>
        <p:nvSpPr>
          <p:cNvPr id="32" name="">
            <a:extLst xmlns:a="http://schemas.openxmlformats.org/drawingml/2006/main">
              <a:ext uri="{FF2B5EF4-FFF2-40B4-BE49-F238E27FC236}">
                <a16:creationId xmlns:a16="http://schemas.microsoft.com/office/drawing/2014/main" id="{4C2F6288-D7F3-461F-AB07-C89B8C2DAA8C}"/>
              </a:ext>
            </a:extLst>
          </p:cNvPr>
          <p:cNvSpPr>
            <a:spLocks xmlns:a="http://schemas.openxmlformats.org/drawingml/2006/main" noGrp="1"/>
          </p:cNvSpPr>
          <p:nvPr/>
        </p:nvSpPr>
        <p:spPr>
          <a:xfrm xmlns:a="http://schemas.openxmlformats.org/drawingml/2006/main">
            <a:off x="8858250" y="2524125"/>
            <a:ext cx="2628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252D27"/>
                </a:solidFill>
                <a:latin typeface="Arial"/>
                <a:ea typeface="Arial"/>
                <a:cs typeface="Arial"/>
              </a:defRPr>
            </a:defPPr>
          </a:lstStyle>
          <a:p xmlns:a="http://schemas.openxmlformats.org/drawingml/2006/main">
            <a:pPr>
              <a:defRPr sz="1425" b="0">
                <a:solidFill>
                  <a:srgbClr val="252D27"/>
                </a:solidFill>
                <a:latin typeface="Arial"/>
                <a:ea typeface="Arial"/>
                <a:cs typeface="Arial"/>
              </a:defRPr>
            </a:pPr>
            <a:r>
              <a:rPr sz="1425" b="0">
                <a:solidFill>
                  <a:srgbClr val="252D27"/>
                </a:solidFill>
                <a:latin typeface="Arial"/>
                <a:ea typeface="Arial"/>
                <a:cs typeface="Arial"/>
              </a:rPr>
              <a:t>title: VARCHAR(150)</a:t>
            </a:r>
          </a:p>
        </p:txBody>
      </p:sp>
      <p:sp>
        <p:nvSpPr>
          <p:cNvPr id="33" name="">
            <a:extLst xmlns:a="http://schemas.openxmlformats.org/drawingml/2006/main">
              <a:ext uri="{FF2B5EF4-FFF2-40B4-BE49-F238E27FC236}">
                <a16:creationId xmlns:a16="http://schemas.microsoft.com/office/drawing/2014/main" id="{72A4DFC9-42C8-4F94-B2AA-205AF32A223D}"/>
              </a:ext>
            </a:extLst>
          </p:cNvPr>
          <p:cNvSpPr>
            <a:spLocks xmlns:a="http://schemas.openxmlformats.org/drawingml/2006/main" noGrp="1"/>
          </p:cNvSpPr>
          <p:nvPr/>
        </p:nvSpPr>
        <p:spPr>
          <a:xfrm xmlns:a="http://schemas.openxmlformats.org/drawingml/2006/main">
            <a:off x="8858250" y="2762250"/>
            <a:ext cx="2628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252D27"/>
                </a:solidFill>
                <a:latin typeface="Arial"/>
                <a:ea typeface="Arial"/>
                <a:cs typeface="Arial"/>
              </a:defRPr>
            </a:defPPr>
          </a:lstStyle>
          <a:p xmlns:a="http://schemas.openxmlformats.org/drawingml/2006/main">
            <a:pPr>
              <a:defRPr sz="1425" b="0">
                <a:solidFill>
                  <a:srgbClr val="252D27"/>
                </a:solidFill>
                <a:latin typeface="Arial"/>
                <a:ea typeface="Arial"/>
                <a:cs typeface="Arial"/>
              </a:defRPr>
            </a:pPr>
            <a:r>
              <a:rPr sz="1425" b="0">
                <a:solidFill>
                  <a:srgbClr val="252D27"/>
                </a:solidFill>
                <a:latin typeface="Arial"/>
                <a:ea typeface="Arial"/>
                <a:cs typeface="Arial"/>
              </a:rPr>
              <a:t>creator: VARCHAR(150)</a:t>
            </a:r>
          </a:p>
        </p:txBody>
      </p:sp>
      <p:sp>
        <p:nvSpPr>
          <p:cNvPr id="34" name="">
            <a:extLst xmlns:a="http://schemas.openxmlformats.org/drawingml/2006/main">
              <a:ext uri="{FF2B5EF4-FFF2-40B4-BE49-F238E27FC236}">
                <a16:creationId xmlns:a16="http://schemas.microsoft.com/office/drawing/2014/main" id="{040C7390-FA38-470C-9C83-E8BC2DB71FA3}"/>
              </a:ext>
            </a:extLst>
          </p:cNvPr>
          <p:cNvSpPr>
            <a:spLocks xmlns:a="http://schemas.openxmlformats.org/drawingml/2006/main" noGrp="1"/>
          </p:cNvSpPr>
          <p:nvPr/>
        </p:nvSpPr>
        <p:spPr>
          <a:xfrm xmlns:a="http://schemas.openxmlformats.org/drawingml/2006/main">
            <a:off x="8858250" y="3000375"/>
            <a:ext cx="2628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252D27"/>
                </a:solidFill>
                <a:latin typeface="Arial"/>
                <a:ea typeface="Arial"/>
                <a:cs typeface="Arial"/>
              </a:defRPr>
            </a:defPPr>
          </a:lstStyle>
          <a:p xmlns:a="http://schemas.openxmlformats.org/drawingml/2006/main">
            <a:pPr>
              <a:defRPr sz="1425" b="0">
                <a:solidFill>
                  <a:srgbClr val="252D27"/>
                </a:solidFill>
                <a:latin typeface="Arial"/>
                <a:ea typeface="Arial"/>
                <a:cs typeface="Arial"/>
              </a:defRPr>
            </a:pPr>
            <a:r>
              <a:rPr sz="1425" b="0">
                <a:solidFill>
                  <a:srgbClr val="252D27"/>
                </a:solidFill>
                <a:latin typeface="Arial"/>
                <a:ea typeface="Arial"/>
                <a:cs typeface="Arial"/>
              </a:rPr>
              <a:t>category: music / movie</a:t>
            </a:r>
          </a:p>
        </p:txBody>
      </p:sp>
      <p:sp>
        <p:nvSpPr>
          <p:cNvPr id="35" name="">
            <a:extLst xmlns:a="http://schemas.openxmlformats.org/drawingml/2006/main">
              <a:ext uri="{FF2B5EF4-FFF2-40B4-BE49-F238E27FC236}">
                <a16:creationId xmlns:a16="http://schemas.microsoft.com/office/drawing/2014/main" id="{533C8366-748B-48B6-95BD-C1328C71CAA7}"/>
              </a:ext>
            </a:extLst>
          </p:cNvPr>
          <p:cNvSpPr>
            <a:spLocks xmlns:a="http://schemas.openxmlformats.org/drawingml/2006/main" noGrp="1"/>
          </p:cNvSpPr>
          <p:nvPr/>
        </p:nvSpPr>
        <p:spPr>
          <a:xfrm xmlns:a="http://schemas.openxmlformats.org/drawingml/2006/main">
            <a:off x="8858250" y="3238500"/>
            <a:ext cx="2628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252D27"/>
                </a:solidFill>
                <a:latin typeface="Arial"/>
                <a:ea typeface="Arial"/>
                <a:cs typeface="Arial"/>
              </a:defRPr>
            </a:defPPr>
          </a:lstStyle>
          <a:p xmlns:a="http://schemas.openxmlformats.org/drawingml/2006/main">
            <a:pPr>
              <a:defRPr sz="1425" b="0">
                <a:solidFill>
                  <a:srgbClr val="252D27"/>
                </a:solidFill>
                <a:latin typeface="Arial"/>
                <a:ea typeface="Arial"/>
                <a:cs typeface="Arial"/>
              </a:defRPr>
            </a:pPr>
            <a:r>
              <a:rPr sz="1425" b="0">
                <a:solidFill>
                  <a:srgbClr val="252D27"/>
                </a:solidFill>
                <a:latin typeface="Arial"/>
                <a:ea typeface="Arial"/>
                <a:cs typeface="Arial"/>
              </a:rPr>
              <a:t>format: CD / DVD</a:t>
            </a:r>
          </a:p>
        </p:txBody>
      </p:sp>
      <p:sp>
        <p:nvSpPr>
          <p:cNvPr id="36" name="">
            <a:extLst xmlns:a="http://schemas.openxmlformats.org/drawingml/2006/main">
              <a:ext uri="{FF2B5EF4-FFF2-40B4-BE49-F238E27FC236}">
                <a16:creationId xmlns:a16="http://schemas.microsoft.com/office/drawing/2014/main" id="{013F608F-C9F6-4637-947F-C325C44B2C15}"/>
              </a:ext>
            </a:extLst>
          </p:cNvPr>
          <p:cNvSpPr>
            <a:spLocks xmlns:a="http://schemas.openxmlformats.org/drawingml/2006/main" noGrp="1"/>
          </p:cNvSpPr>
          <p:nvPr/>
        </p:nvSpPr>
        <p:spPr>
          <a:xfrm xmlns:a="http://schemas.openxmlformats.org/drawingml/2006/main">
            <a:off x="8858250" y="3476625"/>
            <a:ext cx="2628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252D27"/>
                </a:solidFill>
                <a:latin typeface="Arial"/>
                <a:ea typeface="Arial"/>
                <a:cs typeface="Arial"/>
              </a:defRPr>
            </a:defPPr>
          </a:lstStyle>
          <a:p xmlns:a="http://schemas.openxmlformats.org/drawingml/2006/main">
            <a:pPr>
              <a:defRPr sz="1425" b="0">
                <a:solidFill>
                  <a:srgbClr val="252D27"/>
                </a:solidFill>
                <a:latin typeface="Arial"/>
                <a:ea typeface="Arial"/>
                <a:cs typeface="Arial"/>
              </a:defRPr>
            </a:pPr>
            <a:r>
              <a:rPr sz="1425" b="0">
                <a:solidFill>
                  <a:srgbClr val="252D27"/>
                </a:solidFill>
                <a:latin typeface="Arial"/>
                <a:ea typeface="Arial"/>
                <a:cs typeface="Arial"/>
              </a:rPr>
              <a:t>total_copies: INT</a:t>
            </a:r>
          </a:p>
        </p:txBody>
      </p:sp>
      <p:sp>
        <p:nvSpPr>
          <p:cNvPr id="37" name="">
            <a:extLst xmlns:a="http://schemas.openxmlformats.org/drawingml/2006/main">
              <a:ext uri="{FF2B5EF4-FFF2-40B4-BE49-F238E27FC236}">
                <a16:creationId xmlns:a16="http://schemas.microsoft.com/office/drawing/2014/main" id="{C9F84368-A999-4FAD-A7AF-B31DA4976005}"/>
              </a:ext>
            </a:extLst>
          </p:cNvPr>
          <p:cNvSpPr>
            <a:spLocks xmlns:a="http://schemas.openxmlformats.org/drawingml/2006/main" noGrp="1"/>
          </p:cNvSpPr>
          <p:nvPr/>
        </p:nvSpPr>
        <p:spPr>
          <a:xfrm xmlns:a="http://schemas.openxmlformats.org/drawingml/2006/main">
            <a:off x="8858250" y="3714750"/>
            <a:ext cx="2628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252D27"/>
                </a:solidFill>
                <a:latin typeface="Arial"/>
                <a:ea typeface="Arial"/>
                <a:cs typeface="Arial"/>
              </a:defRPr>
            </a:defPPr>
          </a:lstStyle>
          <a:p xmlns:a="http://schemas.openxmlformats.org/drawingml/2006/main">
            <a:pPr>
              <a:defRPr sz="1425" b="0">
                <a:solidFill>
                  <a:srgbClr val="252D27"/>
                </a:solidFill>
                <a:latin typeface="Arial"/>
                <a:ea typeface="Arial"/>
                <a:cs typeface="Arial"/>
              </a:defRPr>
            </a:pPr>
            <a:r>
              <a:rPr sz="1425" b="0">
                <a:solidFill>
                  <a:srgbClr val="252D27"/>
                </a:solidFill>
                <a:latin typeface="Arial"/>
                <a:ea typeface="Arial"/>
                <a:cs typeface="Arial"/>
              </a:rPr>
              <a:t>daily_fee: DECIMAL(10,2)</a:t>
            </a:r>
          </a:p>
        </p:txBody>
      </p:sp>
      <p:sp>
        <p:nvSpPr>
          <p:cNvPr id="38" name="">
            <a:extLst xmlns:a="http://schemas.openxmlformats.org/drawingml/2006/main">
              <a:ext uri="{FF2B5EF4-FFF2-40B4-BE49-F238E27FC236}">
                <a16:creationId xmlns:a16="http://schemas.microsoft.com/office/drawing/2014/main" id="{7E29AD16-0CCF-422F-8B46-7640D8B00A67}"/>
              </a:ext>
            </a:extLst>
          </p:cNvPr>
          <p:cNvSpPr>
            <a:spLocks xmlns:a="http://schemas.openxmlformats.org/drawingml/2006/main" noGrp="1"/>
          </p:cNvSpPr>
          <p:nvPr/>
        </p:nvSpPr>
        <p:spPr>
          <a:xfrm xmlns:a="http://schemas.openxmlformats.org/drawingml/2006/main">
            <a:off x="8858250" y="3952875"/>
            <a:ext cx="2628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252D27"/>
                </a:solidFill>
                <a:latin typeface="Arial"/>
                <a:ea typeface="Arial"/>
                <a:cs typeface="Arial"/>
              </a:defRPr>
            </a:defPPr>
          </a:lstStyle>
          <a:p xmlns:a="http://schemas.openxmlformats.org/drawingml/2006/main">
            <a:pPr>
              <a:defRPr sz="1425" b="0">
                <a:solidFill>
                  <a:srgbClr val="252D27"/>
                </a:solidFill>
                <a:latin typeface="Arial"/>
                <a:ea typeface="Arial"/>
                <a:cs typeface="Arial"/>
              </a:defRPr>
            </a:pPr>
            <a:r>
              <a:rPr sz="1425" b="0">
                <a:solidFill>
                  <a:srgbClr val="252D27"/>
                </a:solidFill>
                <a:latin typeface="Arial"/>
                <a:ea typeface="Arial"/>
                <a:cs typeface="Arial"/>
              </a:rPr>
              <a:t>daily_late_fee: DECIMAL(10,2)</a:t>
            </a:r>
          </a:p>
        </p:txBody>
      </p:sp>
      <p:sp>
        <p:nvSpPr>
          <p:cNvPr id="39" name="">
            <a:extLst xmlns:a="http://schemas.openxmlformats.org/drawingml/2006/main">
              <a:ext uri="{FF2B5EF4-FFF2-40B4-BE49-F238E27FC236}">
                <a16:creationId xmlns:a16="http://schemas.microsoft.com/office/drawing/2014/main" id="{0918ED02-7A02-497D-93D1-996979158A8C}"/>
              </a:ext>
            </a:extLst>
          </p:cNvPr>
          <p:cNvSpPr>
            <a:spLocks xmlns:a="http://schemas.openxmlformats.org/drawingml/2006/main" noGrp="1"/>
          </p:cNvSpPr>
          <p:nvPr/>
        </p:nvSpPr>
        <p:spPr>
          <a:xfrm xmlns:a="http://schemas.openxmlformats.org/drawingml/2006/main">
            <a:off x="8858250" y="4191000"/>
            <a:ext cx="2628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252D27"/>
                </a:solidFill>
                <a:latin typeface="Arial"/>
                <a:ea typeface="Arial"/>
                <a:cs typeface="Arial"/>
              </a:defRPr>
            </a:defPPr>
          </a:lstStyle>
          <a:p xmlns:a="http://schemas.openxmlformats.org/drawingml/2006/main">
            <a:pPr>
              <a:defRPr sz="1425" b="0">
                <a:solidFill>
                  <a:srgbClr val="252D27"/>
                </a:solidFill>
                <a:latin typeface="Arial"/>
                <a:ea typeface="Arial"/>
                <a:cs typeface="Arial"/>
              </a:defRPr>
            </a:pPr>
            <a:r>
              <a:rPr sz="1425" b="0">
                <a:solidFill>
                  <a:srgbClr val="252D27"/>
                </a:solidFill>
                <a:latin typeface="Arial"/>
                <a:ea typeface="Arial"/>
                <a:cs typeface="Arial"/>
              </a:rPr>
              <a:t>archived: BOOLEAN</a:t>
            </a:r>
          </a:p>
        </p:txBody>
      </p:sp>
      <p:sp>
        <p:nvSpPr>
          <p:cNvPr id="40" name="">
            <a:extLst xmlns:a="http://schemas.openxmlformats.org/drawingml/2006/main">
              <a:ext uri="{FF2B5EF4-FFF2-40B4-BE49-F238E27FC236}">
                <a16:creationId xmlns:a16="http://schemas.microsoft.com/office/drawing/2014/main" id="{E3821731-38F6-4434-A42C-6544FB29A793}"/>
              </a:ext>
            </a:extLst>
          </p:cNvPr>
          <p:cNvSpPr>
            <a:spLocks xmlns:a="http://schemas.openxmlformats.org/drawingml/2006/main" noGrp="1"/>
          </p:cNvSpPr>
          <p:nvPr/>
        </p:nvSpPr>
        <p:spPr>
          <a:xfrm xmlns:a="http://schemas.openxmlformats.org/drawingml/2006/main">
            <a:off x="8858250" y="4429125"/>
            <a:ext cx="2628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252D27"/>
                </a:solidFill>
                <a:latin typeface="Arial"/>
                <a:ea typeface="Arial"/>
                <a:cs typeface="Arial"/>
              </a:defRPr>
            </a:defPPr>
          </a:lstStyle>
          <a:p xmlns:a="http://schemas.openxmlformats.org/drawingml/2006/main">
            <a:pPr>
              <a:defRPr sz="1425" b="0">
                <a:solidFill>
                  <a:srgbClr val="252D27"/>
                </a:solidFill>
                <a:latin typeface="Arial"/>
                <a:ea typeface="Arial"/>
                <a:cs typeface="Arial"/>
              </a:defRPr>
            </a:pPr>
            <a:r>
              <a:rPr sz="1425" b="0">
                <a:solidFill>
                  <a:srgbClr val="252D27"/>
                </a:solidFill>
                <a:latin typeface="Arial"/>
                <a:ea typeface="Arial"/>
                <a:cs typeface="Arial"/>
              </a:rPr>
              <a:t>created_at: TIMESTAMP</a:t>
            </a:r>
          </a:p>
        </p:txBody>
      </p:sp>
      <p:sp>
        <p:nvSpPr>
          <p:cNvPr id="41" name="">
            <a:extLst xmlns:a="http://schemas.openxmlformats.org/drawingml/2006/main">
              <a:ext uri="{FF2B5EF4-FFF2-40B4-BE49-F238E27FC236}">
                <a16:creationId xmlns:a16="http://schemas.microsoft.com/office/drawing/2014/main" id="{8038C3CC-E072-4891-97C9-94B4F180A2F1}"/>
              </a:ext>
            </a:extLst>
          </p:cNvPr>
          <p:cNvSpPr>
            <a:spLocks xmlns:a="http://schemas.openxmlformats.org/drawingml/2006/main" noGrp="1"/>
          </p:cNvSpPr>
          <p:nvPr/>
        </p:nvSpPr>
        <p:spPr>
          <a:xfrm xmlns:a="http://schemas.openxmlformats.org/drawingml/2006/main">
            <a:off x="3762375" y="2724150"/>
            <a:ext cx="542925" cy="0"/>
          </a:xfrm>
          <a:prstGeom xmlns:a="http://schemas.openxmlformats.org/drawingml/2006/main" prst="line">
            <a:avLst/>
          </a:prstGeom>
          <a:noFill xmlns:a="http://schemas.openxmlformats.org/drawingml/2006/main"/>
          <a:ln xmlns:a="http://schemas.openxmlformats.org/drawingml/2006/main" w="19050">
            <a:solidFill>
              <a:srgbClr val="BA512E"/>
            </a:solidFill>
          </a:ln>
        </p:spPr>
      </p:sp>
      <p:sp>
        <p:nvSpPr>
          <p:cNvPr id="42" name="">
            <a:extLst xmlns:a="http://schemas.openxmlformats.org/drawingml/2006/main">
              <a:ext uri="{FF2B5EF4-FFF2-40B4-BE49-F238E27FC236}">
                <a16:creationId xmlns:a16="http://schemas.microsoft.com/office/drawing/2014/main" id="{95D18F54-20A3-4456-ACEE-CEE9910777E0}"/>
              </a:ext>
            </a:extLst>
          </p:cNvPr>
          <p:cNvSpPr>
            <a:spLocks xmlns:a="http://schemas.openxmlformats.org/drawingml/2006/main" noGrp="1"/>
          </p:cNvSpPr>
          <p:nvPr/>
        </p:nvSpPr>
        <p:spPr>
          <a:xfrm xmlns:a="http://schemas.openxmlformats.org/drawingml/2006/main">
            <a:off x="7781925" y="2724150"/>
            <a:ext cx="923925" cy="0"/>
          </a:xfrm>
          <a:prstGeom xmlns:a="http://schemas.openxmlformats.org/drawingml/2006/main" prst="line">
            <a:avLst/>
          </a:prstGeom>
          <a:noFill xmlns:a="http://schemas.openxmlformats.org/drawingml/2006/main"/>
          <a:ln xmlns:a="http://schemas.openxmlformats.org/drawingml/2006/main" w="19050">
            <a:solidFill>
              <a:srgbClr val="BA512E"/>
            </a:solidFill>
          </a:ln>
        </p:spPr>
      </p:sp>
      <p:sp>
        <p:nvSpPr>
          <p:cNvPr id="43" name="">
            <a:extLst xmlns:a="http://schemas.openxmlformats.org/drawingml/2006/main">
              <a:ext uri="{FF2B5EF4-FFF2-40B4-BE49-F238E27FC236}">
                <a16:creationId xmlns:a16="http://schemas.microsoft.com/office/drawing/2014/main" id="{1FD0E494-2329-45B4-BEB9-166E160F591A}"/>
              </a:ext>
            </a:extLst>
          </p:cNvPr>
          <p:cNvSpPr>
            <a:spLocks xmlns:a="http://schemas.openxmlformats.org/drawingml/2006/main" noGrp="1"/>
          </p:cNvSpPr>
          <p:nvPr/>
        </p:nvSpPr>
        <p:spPr>
          <a:xfrm xmlns:a="http://schemas.openxmlformats.org/drawingml/2006/main">
            <a:off x="3800475" y="2362200"/>
            <a:ext cx="19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BA512E"/>
                </a:solidFill>
                <a:latin typeface="Arial"/>
                <a:ea typeface="Arial"/>
                <a:cs typeface="Arial"/>
              </a:defRPr>
            </a:defPPr>
          </a:lstStyle>
          <a:p xmlns:a="http://schemas.openxmlformats.org/drawingml/2006/main">
            <a:pPr>
              <a:defRPr sz="1200" b="1">
                <a:solidFill>
                  <a:srgbClr val="BA512E"/>
                </a:solidFill>
                <a:latin typeface="Arial"/>
                <a:ea typeface="Arial"/>
                <a:cs typeface="Arial"/>
              </a:defRPr>
            </a:pPr>
            <a:r>
              <a:rPr sz="1200" b="1">
                <a:solidFill>
                  <a:srgbClr val="BA512E"/>
                </a:solidFill>
                <a:latin typeface="Arial"/>
                <a:ea typeface="Arial"/>
                <a:cs typeface="Arial"/>
              </a:rPr>
              <a:t>1</a:t>
            </a:r>
          </a:p>
        </p:txBody>
      </p:sp>
      <p:sp>
        <p:nvSpPr>
          <p:cNvPr id="44" name="">
            <a:extLst xmlns:a="http://schemas.openxmlformats.org/drawingml/2006/main">
              <a:ext uri="{FF2B5EF4-FFF2-40B4-BE49-F238E27FC236}">
                <a16:creationId xmlns:a16="http://schemas.microsoft.com/office/drawing/2014/main" id="{A980AB64-5564-40F1-AC7D-4625256C96B1}"/>
              </a:ext>
            </a:extLst>
          </p:cNvPr>
          <p:cNvSpPr>
            <a:spLocks xmlns:a="http://schemas.openxmlformats.org/drawingml/2006/main" noGrp="1"/>
          </p:cNvSpPr>
          <p:nvPr/>
        </p:nvSpPr>
        <p:spPr>
          <a:xfrm xmlns:a="http://schemas.openxmlformats.org/drawingml/2006/main">
            <a:off x="3981450" y="23622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BA512E"/>
                </a:solidFill>
                <a:latin typeface="Arial"/>
                <a:ea typeface="Arial"/>
                <a:cs typeface="Arial"/>
              </a:defRPr>
            </a:defPPr>
          </a:lstStyle>
          <a:p xmlns:a="http://schemas.openxmlformats.org/drawingml/2006/main">
            <a:pPr>
              <a:defRPr sz="1200" b="1">
                <a:solidFill>
                  <a:srgbClr val="BA512E"/>
                </a:solidFill>
                <a:latin typeface="Arial"/>
                <a:ea typeface="Arial"/>
                <a:cs typeface="Arial"/>
              </a:defRPr>
            </a:pPr>
            <a:r>
              <a:rPr sz="1200" b="1">
                <a:solidFill>
                  <a:srgbClr val="BA512E"/>
                </a:solidFill>
                <a:latin typeface="Arial"/>
                <a:ea typeface="Arial"/>
                <a:cs typeface="Arial"/>
              </a:rPr>
              <a:t>0..N</a:t>
            </a:r>
          </a:p>
        </p:txBody>
      </p:sp>
      <p:sp>
        <p:nvSpPr>
          <p:cNvPr id="45" name="">
            <a:extLst xmlns:a="http://schemas.openxmlformats.org/drawingml/2006/main">
              <a:ext uri="{FF2B5EF4-FFF2-40B4-BE49-F238E27FC236}">
                <a16:creationId xmlns:a16="http://schemas.microsoft.com/office/drawing/2014/main" id="{DDC463BD-95FD-4CFE-900F-99C7754E33AB}"/>
              </a:ext>
            </a:extLst>
          </p:cNvPr>
          <p:cNvSpPr>
            <a:spLocks xmlns:a="http://schemas.openxmlformats.org/drawingml/2006/main" noGrp="1"/>
          </p:cNvSpPr>
          <p:nvPr/>
        </p:nvSpPr>
        <p:spPr>
          <a:xfrm xmlns:a="http://schemas.openxmlformats.org/drawingml/2006/main">
            <a:off x="7820025" y="23622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BA512E"/>
                </a:solidFill>
                <a:latin typeface="Arial"/>
                <a:ea typeface="Arial"/>
                <a:cs typeface="Arial"/>
              </a:defRPr>
            </a:defPPr>
          </a:lstStyle>
          <a:p xmlns:a="http://schemas.openxmlformats.org/drawingml/2006/main">
            <a:pPr>
              <a:defRPr sz="1500" b="1">
                <a:solidFill>
                  <a:srgbClr val="BA512E"/>
                </a:solidFill>
                <a:latin typeface="Arial"/>
                <a:ea typeface="Arial"/>
                <a:cs typeface="Arial"/>
              </a:defRPr>
            </a:pPr>
            <a:r>
              <a:rPr sz="1500" b="1">
                <a:solidFill>
                  <a:srgbClr val="BA512E"/>
                </a:solidFill>
                <a:latin typeface="Arial"/>
                <a:ea typeface="Arial"/>
                <a:cs typeface="Arial"/>
              </a:rPr>
              <a:t>0..N</a:t>
            </a:r>
          </a:p>
        </p:txBody>
      </p:sp>
      <p:sp>
        <p:nvSpPr>
          <p:cNvPr id="46" name="">
            <a:extLst xmlns:a="http://schemas.openxmlformats.org/drawingml/2006/main">
              <a:ext uri="{FF2B5EF4-FFF2-40B4-BE49-F238E27FC236}">
                <a16:creationId xmlns:a16="http://schemas.microsoft.com/office/drawing/2014/main" id="{B69D4B59-0B08-4A45-8B86-656E3A628C40}"/>
              </a:ext>
            </a:extLst>
          </p:cNvPr>
          <p:cNvSpPr>
            <a:spLocks xmlns:a="http://schemas.openxmlformats.org/drawingml/2006/main" noGrp="1"/>
          </p:cNvSpPr>
          <p:nvPr/>
        </p:nvSpPr>
        <p:spPr>
          <a:xfrm xmlns:a="http://schemas.openxmlformats.org/drawingml/2006/main">
            <a:off x="8458200" y="2362200"/>
            <a:ext cx="238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BA512E"/>
                </a:solidFill>
                <a:latin typeface="Arial"/>
                <a:ea typeface="Arial"/>
                <a:cs typeface="Arial"/>
              </a:defRPr>
            </a:defPPr>
          </a:lstStyle>
          <a:p xmlns:a="http://schemas.openxmlformats.org/drawingml/2006/main">
            <a:pPr>
              <a:defRPr sz="1500" b="1">
                <a:solidFill>
                  <a:srgbClr val="BA512E"/>
                </a:solidFill>
                <a:latin typeface="Arial"/>
                <a:ea typeface="Arial"/>
                <a:cs typeface="Arial"/>
              </a:defRPr>
            </a:pPr>
            <a:r>
              <a:rPr sz="1500" b="1">
                <a:solidFill>
                  <a:srgbClr val="BA512E"/>
                </a:solidFill>
                <a:latin typeface="Arial"/>
                <a:ea typeface="Arial"/>
                <a:cs typeface="Arial"/>
              </a:rPr>
              <a:t>1</a:t>
            </a:r>
          </a:p>
        </p:txBody>
      </p:sp>
      <p:sp>
        <p:nvSpPr>
          <p:cNvPr id="47" name="">
            <a:extLst xmlns:a="http://schemas.openxmlformats.org/drawingml/2006/main">
              <a:ext uri="{FF2B5EF4-FFF2-40B4-BE49-F238E27FC236}">
                <a16:creationId xmlns:a16="http://schemas.microsoft.com/office/drawing/2014/main" id="{FB715D58-F53B-4660-AF09-836AAD611244}"/>
              </a:ext>
            </a:extLst>
          </p:cNvPr>
          <p:cNvSpPr>
            <a:spLocks xmlns:a="http://schemas.openxmlformats.org/drawingml/2006/main" noGrp="1"/>
          </p:cNvSpPr>
          <p:nvPr/>
        </p:nvSpPr>
        <p:spPr>
          <a:xfrm xmlns:a="http://schemas.openxmlformats.org/drawingml/2006/main">
            <a:off x="619125" y="6429375"/>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62685F"/>
                </a:solidFill>
                <a:latin typeface="Arial"/>
                <a:ea typeface="Arial"/>
                <a:cs typeface="Arial"/>
              </a:defRPr>
            </a:defPPr>
          </a:lstStyle>
          <a:p xmlns:a="http://schemas.openxmlformats.org/drawingml/2006/main">
            <a:pPr>
              <a:defRPr sz="1275" b="0">
                <a:solidFill>
                  <a:srgbClr val="62685F"/>
                </a:solidFill>
                <a:latin typeface="Arial"/>
                <a:ea typeface="Arial"/>
                <a:cs typeface="Arial"/>
              </a:defRPr>
            </a:pPr>
            <a:r>
              <a:rPr sz="1275" b="0">
                <a:solidFill>
                  <a:srgbClr val="62685F"/>
                </a:solidFill>
                <a:latin typeface="Arial"/>
                <a:ea typeface="Arial"/>
                <a:cs typeface="Arial"/>
              </a:rPr>
              <a:t>PK: primary key    FK: foreign key    UQ: unique key    Users and media: N:M through rentals</a:t>
            </a:r>
          </a:p>
        </p:txBody>
      </p:sp>
    </p:spTree>
    <p:extLst>
      <p:ext uri="{BB962C8B-B14F-4D97-AF65-F5344CB8AC3E}">
        <p14:creationId xmlns:p14="http://schemas.microsoft.com/office/powerpoint/2010/main" val="677828634"/>
      </p:ext>
    </p:extLst>
  </p:cSld>
</p:sld>
</file>

<file path=ppt/slides/slide5.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CA96012-BD8E-4908-BDE7-42B97855FBEC}"/>
              </a:ext>
            </a:extLst>
          </p:cNvPr>
          <p:cNvSpPr>
            <a:spLocks xmlns:a="http://schemas.openxmlformats.org/drawingml/2006/main" noGrp="1"/>
          </p:cNvSpPr>
          <p:nvPr/>
        </p:nvSpPr>
        <p:spPr>
          <a:xfrm xmlns:a="http://schemas.openxmlformats.org/drawingml/2006/main">
            <a:off x="619125" y="5143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52D27"/>
                </a:solidFill>
                <a:latin typeface="Arial"/>
                <a:ea typeface="Arial"/>
                <a:cs typeface="Arial"/>
              </a:defRPr>
            </a:defPPr>
          </a:lstStyle>
          <a:p xmlns:a="http://schemas.openxmlformats.org/drawingml/2006/main">
            <a:pPr>
              <a:defRPr sz="3300" b="1">
                <a:solidFill>
                  <a:srgbClr val="252D27"/>
                </a:solidFill>
                <a:latin typeface="Arial"/>
                <a:ea typeface="Arial"/>
                <a:cs typeface="Arial"/>
              </a:defRPr>
            </a:pPr>
            <a:r>
              <a:rPr sz="3300" b="1">
                <a:solidFill>
                  <a:srgbClr val="252D27"/>
                </a:solidFill>
                <a:latin typeface="Arial"/>
                <a:ea typeface="Arial"/>
                <a:cs typeface="Arial"/>
              </a:rPr>
              <a:t>REST API and complete CRUD</a:t>
            </a:r>
          </a:p>
        </p:txBody>
      </p:sp>
      <p:sp>
        <p:nvSpPr>
          <p:cNvPr id="2" name="">
            <a:extLst xmlns:a="http://schemas.openxmlformats.org/drawingml/2006/main">
              <a:ext uri="{FF2B5EF4-FFF2-40B4-BE49-F238E27FC236}">
                <a16:creationId xmlns:a16="http://schemas.microsoft.com/office/drawing/2014/main" id="{9D4E7B3E-59B1-4667-A7A3-79BF408F59FC}"/>
              </a:ext>
            </a:extLst>
          </p:cNvPr>
          <p:cNvSpPr>
            <a:spLocks xmlns:a="http://schemas.openxmlformats.org/drawingml/2006/main" noGrp="1"/>
          </p:cNvSpPr>
          <p:nvPr/>
        </p:nvSpPr>
        <p:spPr>
          <a:xfrm xmlns:a="http://schemas.openxmlformats.org/drawingml/2006/main">
            <a:off x="11144250" y="63341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2685F"/>
                </a:solidFill>
                <a:latin typeface="Arial"/>
                <a:ea typeface="Arial"/>
                <a:cs typeface="Arial"/>
              </a:defRPr>
            </a:defPPr>
          </a:lstStyle>
          <a:p xmlns:a="http://schemas.openxmlformats.org/drawingml/2006/main">
            <a:pPr>
              <a:defRPr sz="1200" b="0">
                <a:solidFill>
                  <a:srgbClr val="62685F"/>
                </a:solidFill>
                <a:latin typeface="Arial"/>
                <a:ea typeface="Arial"/>
                <a:cs typeface="Arial"/>
              </a:defRPr>
            </a:pPr>
            <a:r>
              <a:rPr sz="1200" b="0">
                <a:solidFill>
                  <a:srgbClr val="62685F"/>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DCD917AF-E16B-484B-A3CF-234494065DBC}"/>
              </a:ext>
            </a:extLst>
          </p:cNvPr>
          <p:cNvSpPr>
            <a:spLocks xmlns:a="http://schemas.openxmlformats.org/drawingml/2006/main" noGrp="1"/>
          </p:cNvSpPr>
          <p:nvPr/>
        </p:nvSpPr>
        <p:spPr>
          <a:xfrm xmlns:a="http://schemas.openxmlformats.org/drawingml/2006/main">
            <a:off x="685800" y="17145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52D27"/>
                </a:solidFill>
                <a:latin typeface="Arial"/>
                <a:ea typeface="Arial"/>
                <a:cs typeface="Arial"/>
              </a:defRPr>
            </a:defPPr>
          </a:lstStyle>
          <a:p xmlns:a="http://schemas.openxmlformats.org/drawingml/2006/main">
            <a:pPr>
              <a:defRPr sz="2175" b="0">
                <a:solidFill>
                  <a:srgbClr val="252D27"/>
                </a:solidFill>
                <a:latin typeface="Arial"/>
                <a:ea typeface="Arial"/>
                <a:cs typeface="Arial"/>
              </a:defRPr>
            </a:pPr>
            <a:r>
              <a:rPr sz="2175" b="0">
                <a:solidFill>
                  <a:srgbClr val="252D27"/>
                </a:solidFill>
                <a:latin typeface="Arial"/>
                <a:ea typeface="Arial"/>
                <a:cs typeface="Arial"/>
              </a:rPr>
              <a:t>/api/v1/media and /api/v1/customers support full CRUD.</a:t>
            </a:r>
          </a:p>
        </p:txBody>
      </p:sp>
      <p:sp>
        <p:nvSpPr>
          <p:cNvPr id="4" name="">
            <a:extLst xmlns:a="http://schemas.openxmlformats.org/drawingml/2006/main">
              <a:ext uri="{FF2B5EF4-FFF2-40B4-BE49-F238E27FC236}">
                <a16:creationId xmlns:a16="http://schemas.microsoft.com/office/drawing/2014/main" id="{58D1362D-FC70-4CC9-B787-525EBEADAA89}"/>
              </a:ext>
            </a:extLst>
          </p:cNvPr>
          <p:cNvSpPr>
            <a:spLocks xmlns:a="http://schemas.openxmlformats.org/drawingml/2006/main" noGrp="1"/>
          </p:cNvSpPr>
          <p:nvPr/>
        </p:nvSpPr>
        <p:spPr>
          <a:xfrm xmlns:a="http://schemas.openxmlformats.org/drawingml/2006/main">
            <a:off x="685800" y="24955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52D27"/>
                </a:solidFill>
                <a:latin typeface="Arial"/>
                <a:ea typeface="Arial"/>
                <a:cs typeface="Arial"/>
              </a:defRPr>
            </a:defPPr>
          </a:lstStyle>
          <a:p xmlns:a="http://schemas.openxmlformats.org/drawingml/2006/main">
            <a:pPr>
              <a:defRPr sz="2175" b="0">
                <a:solidFill>
                  <a:srgbClr val="252D27"/>
                </a:solidFill>
                <a:latin typeface="Arial"/>
                <a:ea typeface="Arial"/>
                <a:cs typeface="Arial"/>
              </a:defRPr>
            </a:pPr>
            <a:r>
              <a:rPr sz="2175" b="0">
                <a:solidFill>
                  <a:srgbClr val="252D27"/>
                </a:solidFill>
                <a:latin typeface="Arial"/>
                <a:ea typeface="Arial"/>
                <a:cs typeface="Arial"/>
              </a:rPr>
              <a:t>GET reads, POST creates, PATCH updates, DELETE removes.</a:t>
            </a:r>
          </a:p>
        </p:txBody>
      </p:sp>
      <p:sp>
        <p:nvSpPr>
          <p:cNvPr id="5" name="">
            <a:extLst xmlns:a="http://schemas.openxmlformats.org/drawingml/2006/main">
              <a:ext uri="{FF2B5EF4-FFF2-40B4-BE49-F238E27FC236}">
                <a16:creationId xmlns:a16="http://schemas.microsoft.com/office/drawing/2014/main" id="{C3503051-A05D-4131-8F54-FDCE0985FB49}"/>
              </a:ext>
            </a:extLst>
          </p:cNvPr>
          <p:cNvSpPr>
            <a:spLocks xmlns:a="http://schemas.openxmlformats.org/drawingml/2006/main" noGrp="1"/>
          </p:cNvSpPr>
          <p:nvPr/>
        </p:nvSpPr>
        <p:spPr>
          <a:xfrm xmlns:a="http://schemas.openxmlformats.org/drawingml/2006/main">
            <a:off x="685800" y="32766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52D27"/>
                </a:solidFill>
                <a:latin typeface="Arial"/>
                <a:ea typeface="Arial"/>
                <a:cs typeface="Arial"/>
              </a:defRPr>
            </a:defPPr>
          </a:lstStyle>
          <a:p xmlns:a="http://schemas.openxmlformats.org/drawingml/2006/main">
            <a:pPr>
              <a:defRPr sz="2175" b="0">
                <a:solidFill>
                  <a:srgbClr val="252D27"/>
                </a:solidFill>
                <a:latin typeface="Arial"/>
                <a:ea typeface="Arial"/>
                <a:cs typeface="Arial"/>
              </a:defRPr>
            </a:pPr>
            <a:r>
              <a:rPr sz="2175" b="0">
                <a:solidFill>
                  <a:srgbClr val="252D27"/>
                </a:solidFill>
                <a:latin typeface="Arial"/>
                <a:ea typeface="Arial"/>
                <a:cs typeface="Arial"/>
              </a:rPr>
              <a:t>/api/v1/rentals creates rentals and records returns.</a:t>
            </a:r>
          </a:p>
        </p:txBody>
      </p:sp>
      <p:sp>
        <p:nvSpPr>
          <p:cNvPr id="6" name="">
            <a:extLst xmlns:a="http://schemas.openxmlformats.org/drawingml/2006/main">
              <a:ext uri="{FF2B5EF4-FFF2-40B4-BE49-F238E27FC236}">
                <a16:creationId xmlns:a16="http://schemas.microsoft.com/office/drawing/2014/main" id="{9AB9BD8D-A5CB-474B-AE56-C258FE787D3F}"/>
              </a:ext>
            </a:extLst>
          </p:cNvPr>
          <p:cNvSpPr>
            <a:spLocks xmlns:a="http://schemas.openxmlformats.org/drawingml/2006/main" noGrp="1"/>
          </p:cNvSpPr>
          <p:nvPr/>
        </p:nvSpPr>
        <p:spPr>
          <a:xfrm xmlns:a="http://schemas.openxmlformats.org/drawingml/2006/main">
            <a:off x="685800" y="40576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52D27"/>
                </a:solidFill>
                <a:latin typeface="Arial"/>
                <a:ea typeface="Arial"/>
                <a:cs typeface="Arial"/>
              </a:defRPr>
            </a:defPPr>
          </a:lstStyle>
          <a:p xmlns:a="http://schemas.openxmlformats.org/drawingml/2006/main">
            <a:pPr>
              <a:defRPr sz="2175" b="0">
                <a:solidFill>
                  <a:srgbClr val="252D27"/>
                </a:solidFill>
                <a:latin typeface="Arial"/>
                <a:ea typeface="Arial"/>
                <a:cs typeface="Arial"/>
              </a:defRPr>
            </a:pPr>
            <a:r>
              <a:rPr sz="2175" b="0">
                <a:solidFill>
                  <a:srgbClr val="252D27"/>
                </a:solidFill>
                <a:latin typeface="Arial"/>
                <a:ea typeface="Arial"/>
                <a:cs typeface="Arial"/>
              </a:rPr>
              <a:t>Controllers validate JSON and return consistent status codes.</a:t>
            </a:r>
          </a:p>
        </p:txBody>
      </p:sp>
      <p:sp>
        <p:nvSpPr>
          <p:cNvPr id="7" name="">
            <a:extLst xmlns:a="http://schemas.openxmlformats.org/drawingml/2006/main">
              <a:ext uri="{FF2B5EF4-FFF2-40B4-BE49-F238E27FC236}">
                <a16:creationId xmlns:a16="http://schemas.microsoft.com/office/drawing/2014/main" id="{B33FB869-A354-4853-8872-CD6A67FE491F}"/>
              </a:ext>
            </a:extLst>
          </p:cNvPr>
          <p:cNvSpPr>
            <a:spLocks xmlns:a="http://schemas.openxmlformats.org/drawingml/2006/main" noGrp="1"/>
          </p:cNvSpPr>
          <p:nvPr/>
        </p:nvSpPr>
        <p:spPr>
          <a:xfrm xmlns:a="http://schemas.openxmlformats.org/drawingml/2006/main">
            <a:off x="685800" y="48387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52D27"/>
                </a:solidFill>
                <a:latin typeface="Arial"/>
                <a:ea typeface="Arial"/>
                <a:cs typeface="Arial"/>
              </a:defRPr>
            </a:defPPr>
          </a:lstStyle>
          <a:p xmlns:a="http://schemas.openxmlformats.org/drawingml/2006/main">
            <a:pPr>
              <a:defRPr sz="2175" b="0">
                <a:solidFill>
                  <a:srgbClr val="252D27"/>
                </a:solidFill>
                <a:latin typeface="Arial"/>
                <a:ea typeface="Arial"/>
                <a:cs typeface="Arial"/>
              </a:defRPr>
            </a:pPr>
            <a:r>
              <a:rPr sz="2175" b="0">
                <a:solidFill>
                  <a:srgbClr val="252D27"/>
                </a:solidFill>
                <a:latin typeface="Arial"/>
                <a:ea typeface="Arial"/>
                <a:cs typeface="Arial"/>
              </a:rPr>
              <a:t>README documents every endpoint and request/response example.</a:t>
            </a:r>
          </a:p>
        </p:txBody>
      </p:sp>
    </p:spTree>
    <p:extLst>
      <p:ext uri="{BB962C8B-B14F-4D97-AF65-F5344CB8AC3E}">
        <p14:creationId xmlns:p14="http://schemas.microsoft.com/office/powerpoint/2010/main" val="1459596753"/>
      </p:ext>
    </p:extLst>
  </p:cSld>
</p:sld>
</file>

<file path=ppt/slides/slide6.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2916C1D-0532-4A50-BA1F-D20439CCE288}"/>
              </a:ext>
            </a:extLst>
          </p:cNvPr>
          <p:cNvSpPr>
            <a:spLocks xmlns:a="http://schemas.openxmlformats.org/drawingml/2006/main" noGrp="1"/>
          </p:cNvSpPr>
          <p:nvPr/>
        </p:nvSpPr>
        <p:spPr>
          <a:xfrm xmlns:a="http://schemas.openxmlformats.org/drawingml/2006/main">
            <a:off x="619125" y="5143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52D27"/>
                </a:solidFill>
                <a:latin typeface="Arial"/>
                <a:ea typeface="Arial"/>
                <a:cs typeface="Arial"/>
              </a:defRPr>
            </a:defPPr>
          </a:lstStyle>
          <a:p xmlns:a="http://schemas.openxmlformats.org/drawingml/2006/main">
            <a:pPr>
              <a:defRPr sz="3300" b="1">
                <a:solidFill>
                  <a:srgbClr val="252D27"/>
                </a:solidFill>
                <a:latin typeface="Arial"/>
                <a:ea typeface="Arial"/>
                <a:cs typeface="Arial"/>
              </a:defRPr>
            </a:pPr>
            <a:r>
              <a:rPr sz="3300" b="1">
                <a:solidFill>
                  <a:srgbClr val="252D27"/>
                </a:solidFill>
                <a:latin typeface="Arial"/>
                <a:ea typeface="Arial"/>
                <a:cs typeface="Arial"/>
              </a:rPr>
              <a:t>JWT and safe rental transactions</a:t>
            </a:r>
          </a:p>
        </p:txBody>
      </p:sp>
      <p:sp>
        <p:nvSpPr>
          <p:cNvPr id="2" name="">
            <a:extLst xmlns:a="http://schemas.openxmlformats.org/drawingml/2006/main">
              <a:ext uri="{FF2B5EF4-FFF2-40B4-BE49-F238E27FC236}">
                <a16:creationId xmlns:a16="http://schemas.microsoft.com/office/drawing/2014/main" id="{BE7AFD3D-8273-462B-BC40-40FEA597005D}"/>
              </a:ext>
            </a:extLst>
          </p:cNvPr>
          <p:cNvSpPr>
            <a:spLocks xmlns:a="http://schemas.openxmlformats.org/drawingml/2006/main" noGrp="1"/>
          </p:cNvSpPr>
          <p:nvPr/>
        </p:nvSpPr>
        <p:spPr>
          <a:xfrm xmlns:a="http://schemas.openxmlformats.org/drawingml/2006/main">
            <a:off x="11144250" y="63341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2685F"/>
                </a:solidFill>
                <a:latin typeface="Arial"/>
                <a:ea typeface="Arial"/>
                <a:cs typeface="Arial"/>
              </a:defRPr>
            </a:defPPr>
          </a:lstStyle>
          <a:p xmlns:a="http://schemas.openxmlformats.org/drawingml/2006/main">
            <a:pPr>
              <a:defRPr sz="1200" b="0">
                <a:solidFill>
                  <a:srgbClr val="62685F"/>
                </a:solidFill>
                <a:latin typeface="Arial"/>
                <a:ea typeface="Arial"/>
                <a:cs typeface="Arial"/>
              </a:defRPr>
            </a:pPr>
            <a:r>
              <a:rPr sz="1200" b="0">
                <a:solidFill>
                  <a:srgbClr val="62685F"/>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D04739E4-3F49-421A-964F-8719E86323F7}"/>
              </a:ext>
            </a:extLst>
          </p:cNvPr>
          <p:cNvSpPr>
            <a:spLocks xmlns:a="http://schemas.openxmlformats.org/drawingml/2006/main" noGrp="1"/>
          </p:cNvSpPr>
          <p:nvPr/>
        </p:nvSpPr>
        <p:spPr>
          <a:xfrm xmlns:a="http://schemas.openxmlformats.org/drawingml/2006/main">
            <a:off x="685800" y="17145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52D27"/>
                </a:solidFill>
                <a:latin typeface="Arial"/>
                <a:ea typeface="Arial"/>
                <a:cs typeface="Arial"/>
              </a:defRPr>
            </a:defPPr>
          </a:lstStyle>
          <a:p xmlns:a="http://schemas.openxmlformats.org/drawingml/2006/main">
            <a:pPr>
              <a:defRPr sz="2175" b="0">
                <a:solidFill>
                  <a:srgbClr val="252D27"/>
                </a:solidFill>
                <a:latin typeface="Arial"/>
                <a:ea typeface="Arial"/>
                <a:cs typeface="Arial"/>
              </a:defRPr>
            </a:pPr>
            <a:r>
              <a:rPr sz="2175" b="0">
                <a:solidFill>
                  <a:srgbClr val="252D27"/>
                </a:solidFill>
                <a:latin typeface="Arial"/>
                <a:ea typeface="Arial"/>
                <a:cs typeface="Arial"/>
              </a:rPr>
              <a:t>Registration creates customers. bcrypt hashes passwords.</a:t>
            </a:r>
          </a:p>
        </p:txBody>
      </p:sp>
      <p:sp>
        <p:nvSpPr>
          <p:cNvPr id="4" name="">
            <a:extLst xmlns:a="http://schemas.openxmlformats.org/drawingml/2006/main">
              <a:ext uri="{FF2B5EF4-FFF2-40B4-BE49-F238E27FC236}">
                <a16:creationId xmlns:a16="http://schemas.microsoft.com/office/drawing/2014/main" id="{C487900D-1F9D-49FC-A643-56AD998FF6B3}"/>
              </a:ext>
            </a:extLst>
          </p:cNvPr>
          <p:cNvSpPr>
            <a:spLocks xmlns:a="http://schemas.openxmlformats.org/drawingml/2006/main" noGrp="1"/>
          </p:cNvSpPr>
          <p:nvPr/>
        </p:nvSpPr>
        <p:spPr>
          <a:xfrm xmlns:a="http://schemas.openxmlformats.org/drawingml/2006/main">
            <a:off x="685800" y="24955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52D27"/>
                </a:solidFill>
                <a:latin typeface="Arial"/>
                <a:ea typeface="Arial"/>
                <a:cs typeface="Arial"/>
              </a:defRPr>
            </a:defPPr>
          </a:lstStyle>
          <a:p xmlns:a="http://schemas.openxmlformats.org/drawingml/2006/main">
            <a:pPr>
              <a:defRPr sz="2175" b="0">
                <a:solidFill>
                  <a:srgbClr val="252D27"/>
                </a:solidFill>
                <a:latin typeface="Arial"/>
                <a:ea typeface="Arial"/>
                <a:cs typeface="Arial"/>
              </a:defRPr>
            </a:pPr>
            <a:r>
              <a:rPr sz="2175" b="0">
                <a:solidFill>
                  <a:srgbClr val="252D27"/>
                </a:solidFill>
                <a:latin typeface="Arial"/>
                <a:ea typeface="Arial"/>
                <a:cs typeface="Arial"/>
              </a:rPr>
              <a:t>Login issues a JWT. Middleware checks the token and current role.</a:t>
            </a:r>
          </a:p>
        </p:txBody>
      </p:sp>
      <p:sp>
        <p:nvSpPr>
          <p:cNvPr id="5" name="">
            <a:extLst xmlns:a="http://schemas.openxmlformats.org/drawingml/2006/main">
              <a:ext uri="{FF2B5EF4-FFF2-40B4-BE49-F238E27FC236}">
                <a16:creationId xmlns:a16="http://schemas.microsoft.com/office/drawing/2014/main" id="{A75B6FC3-C3D2-48FB-8C4F-79DE3E33FE83}"/>
              </a:ext>
            </a:extLst>
          </p:cNvPr>
          <p:cNvSpPr>
            <a:spLocks xmlns:a="http://schemas.openxmlformats.org/drawingml/2006/main" noGrp="1"/>
          </p:cNvSpPr>
          <p:nvPr/>
        </p:nvSpPr>
        <p:spPr>
          <a:xfrm xmlns:a="http://schemas.openxmlformats.org/drawingml/2006/main">
            <a:off x="685800" y="32766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52D27"/>
                </a:solidFill>
                <a:latin typeface="Arial"/>
                <a:ea typeface="Arial"/>
                <a:cs typeface="Arial"/>
              </a:defRPr>
            </a:defPPr>
          </a:lstStyle>
          <a:p xmlns:a="http://schemas.openxmlformats.org/drawingml/2006/main">
            <a:pPr>
              <a:defRPr sz="2175" b="0">
                <a:solidFill>
                  <a:srgbClr val="252D27"/>
                </a:solidFill>
                <a:latin typeface="Arial"/>
                <a:ea typeface="Arial"/>
                <a:cs typeface="Arial"/>
              </a:defRPr>
            </a:pPr>
            <a:r>
              <a:rPr sz="2175" b="0">
                <a:solidFill>
                  <a:srgbClr val="252D27"/>
                </a:solidFill>
                <a:latin typeface="Arial"/>
                <a:ea typeface="Arial"/>
                <a:cs typeface="Arial"/>
              </a:rPr>
              <a:t>Customers access their own rentals. Admins record returns.</a:t>
            </a:r>
          </a:p>
        </p:txBody>
      </p:sp>
      <p:sp>
        <p:nvSpPr>
          <p:cNvPr id="6" name="">
            <a:extLst xmlns:a="http://schemas.openxmlformats.org/drawingml/2006/main">
              <a:ext uri="{FF2B5EF4-FFF2-40B4-BE49-F238E27FC236}">
                <a16:creationId xmlns:a16="http://schemas.microsoft.com/office/drawing/2014/main" id="{4C112404-FF57-4C3D-8173-A012C48E4EBB}"/>
              </a:ext>
            </a:extLst>
          </p:cNvPr>
          <p:cNvSpPr>
            <a:spLocks xmlns:a="http://schemas.openxmlformats.org/drawingml/2006/main" noGrp="1"/>
          </p:cNvSpPr>
          <p:nvPr/>
        </p:nvSpPr>
        <p:spPr>
          <a:xfrm xmlns:a="http://schemas.openxmlformats.org/drawingml/2006/main">
            <a:off x="685800" y="40576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52D27"/>
                </a:solidFill>
                <a:latin typeface="Arial"/>
                <a:ea typeface="Arial"/>
                <a:cs typeface="Arial"/>
              </a:defRPr>
            </a:defPPr>
          </a:lstStyle>
          <a:p xmlns:a="http://schemas.openxmlformats.org/drawingml/2006/main">
            <a:pPr>
              <a:defRPr sz="2175" b="0">
                <a:solidFill>
                  <a:srgbClr val="252D27"/>
                </a:solidFill>
                <a:latin typeface="Arial"/>
                <a:ea typeface="Arial"/>
                <a:cs typeface="Arial"/>
              </a:defRPr>
            </a:pPr>
            <a:r>
              <a:rPr sz="2175" b="0">
                <a:solidFill>
                  <a:srgbClr val="252D27"/>
                </a:solidFill>
                <a:latin typeface="Arial"/>
                <a:ea typeface="Arial"/>
                <a:cs typeface="Arial"/>
              </a:rPr>
              <a:t>A row lock prevents two customers renting the last copy.</a:t>
            </a:r>
          </a:p>
        </p:txBody>
      </p:sp>
      <p:sp>
        <p:nvSpPr>
          <p:cNvPr id="7" name="">
            <a:extLst xmlns:a="http://schemas.openxmlformats.org/drawingml/2006/main">
              <a:ext uri="{FF2B5EF4-FFF2-40B4-BE49-F238E27FC236}">
                <a16:creationId xmlns:a16="http://schemas.microsoft.com/office/drawing/2014/main" id="{1D54D472-7006-46B0-A10B-932C2986A0EB}"/>
              </a:ext>
            </a:extLst>
          </p:cNvPr>
          <p:cNvSpPr>
            <a:spLocks xmlns:a="http://schemas.openxmlformats.org/drawingml/2006/main" noGrp="1"/>
          </p:cNvSpPr>
          <p:nvPr/>
        </p:nvSpPr>
        <p:spPr>
          <a:xfrm xmlns:a="http://schemas.openxmlformats.org/drawingml/2006/main">
            <a:off x="685800" y="48387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52D27"/>
                </a:solidFill>
                <a:latin typeface="Arial"/>
                <a:ea typeface="Arial"/>
                <a:cs typeface="Arial"/>
              </a:defRPr>
            </a:defPPr>
          </a:lstStyle>
          <a:p xmlns:a="http://schemas.openxmlformats.org/drawingml/2006/main">
            <a:pPr>
              <a:defRPr sz="2175" b="0">
                <a:solidFill>
                  <a:srgbClr val="252D27"/>
                </a:solidFill>
                <a:latin typeface="Arial"/>
                <a:ea typeface="Arial"/>
                <a:cs typeface="Arial"/>
              </a:defRPr>
            </a:pPr>
            <a:r>
              <a:rPr sz="2175" b="0">
                <a:solidFill>
                  <a:srgbClr val="252D27"/>
                </a:solidFill>
                <a:latin typeface="Arial"/>
                <a:ea typeface="Arial"/>
                <a:cs typeface="Arial"/>
              </a:rPr>
              <a:t>A unique request key makes retries safe. Return is idempotent.</a:t>
            </a:r>
          </a:p>
        </p:txBody>
      </p:sp>
    </p:spTree>
    <p:extLst>
      <p:ext uri="{BB962C8B-B14F-4D97-AF65-F5344CB8AC3E}">
        <p14:creationId xmlns:p14="http://schemas.microsoft.com/office/powerpoint/2010/main" val="1911794717"/>
      </p:ext>
    </p:extLst>
  </p:cSld>
</p:sld>
</file>

<file path=ppt/slides/slide7.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39CDFB2-7541-4D15-BEE6-01CFFDFA852E}"/>
              </a:ext>
            </a:extLst>
          </p:cNvPr>
          <p:cNvSpPr>
            <a:spLocks xmlns:a="http://schemas.openxmlformats.org/drawingml/2006/main" noGrp="1"/>
          </p:cNvSpPr>
          <p:nvPr/>
        </p:nvSpPr>
        <p:spPr>
          <a:xfrm xmlns:a="http://schemas.openxmlformats.org/drawingml/2006/main">
            <a:off x="619125" y="5143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52D27"/>
                </a:solidFill>
                <a:latin typeface="Arial"/>
                <a:ea typeface="Arial"/>
                <a:cs typeface="Arial"/>
              </a:defRPr>
            </a:defPPr>
          </a:lstStyle>
          <a:p xmlns:a="http://schemas.openxmlformats.org/drawingml/2006/main">
            <a:pPr>
              <a:defRPr sz="3300" b="1">
                <a:solidFill>
                  <a:srgbClr val="252D27"/>
                </a:solidFill>
                <a:latin typeface="Arial"/>
                <a:ea typeface="Arial"/>
                <a:cs typeface="Arial"/>
              </a:defRPr>
            </a:pPr>
            <a:r>
              <a:rPr sz="3300" b="1">
                <a:solidFill>
                  <a:srgbClr val="252D27"/>
                </a:solidFill>
                <a:latin typeface="Arial"/>
                <a:ea typeface="Arial"/>
                <a:cs typeface="Arial"/>
              </a:rPr>
              <a:t>Docker and persistent data</a:t>
            </a:r>
          </a:p>
        </p:txBody>
      </p:sp>
      <p:sp>
        <p:nvSpPr>
          <p:cNvPr id="2" name="">
            <a:extLst xmlns:a="http://schemas.openxmlformats.org/drawingml/2006/main">
              <a:ext uri="{FF2B5EF4-FFF2-40B4-BE49-F238E27FC236}">
                <a16:creationId xmlns:a16="http://schemas.microsoft.com/office/drawing/2014/main" id="{D50CCA71-AE2F-4969-A0D3-E51A037AD2D4}"/>
              </a:ext>
            </a:extLst>
          </p:cNvPr>
          <p:cNvSpPr>
            <a:spLocks xmlns:a="http://schemas.openxmlformats.org/drawingml/2006/main" noGrp="1"/>
          </p:cNvSpPr>
          <p:nvPr/>
        </p:nvSpPr>
        <p:spPr>
          <a:xfrm xmlns:a="http://schemas.openxmlformats.org/drawingml/2006/main">
            <a:off x="11144250" y="63341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2685F"/>
                </a:solidFill>
                <a:latin typeface="Arial"/>
                <a:ea typeface="Arial"/>
                <a:cs typeface="Arial"/>
              </a:defRPr>
            </a:defPPr>
          </a:lstStyle>
          <a:p xmlns:a="http://schemas.openxmlformats.org/drawingml/2006/main">
            <a:pPr>
              <a:defRPr sz="1200" b="0">
                <a:solidFill>
                  <a:srgbClr val="62685F"/>
                </a:solidFill>
                <a:latin typeface="Arial"/>
                <a:ea typeface="Arial"/>
                <a:cs typeface="Arial"/>
              </a:defRPr>
            </a:pPr>
            <a:r>
              <a:rPr sz="1200" b="0">
                <a:solidFill>
                  <a:srgbClr val="62685F"/>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EFD6C474-74A4-4F02-82C0-4D4F556C8125}"/>
              </a:ext>
            </a:extLst>
          </p:cNvPr>
          <p:cNvSpPr>
            <a:spLocks xmlns:a="http://schemas.openxmlformats.org/drawingml/2006/main" noGrp="1"/>
          </p:cNvSpPr>
          <p:nvPr/>
        </p:nvSpPr>
        <p:spPr>
          <a:xfrm xmlns:a="http://schemas.openxmlformats.org/drawingml/2006/main">
            <a:off x="685800" y="17145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52D27"/>
                </a:solidFill>
                <a:latin typeface="Arial"/>
                <a:ea typeface="Arial"/>
                <a:cs typeface="Arial"/>
              </a:defRPr>
            </a:defPPr>
          </a:lstStyle>
          <a:p xmlns:a="http://schemas.openxmlformats.org/drawingml/2006/main">
            <a:pPr>
              <a:defRPr sz="2175" b="0">
                <a:solidFill>
                  <a:srgbClr val="252D27"/>
                </a:solidFill>
                <a:latin typeface="Arial"/>
                <a:ea typeface="Arial"/>
                <a:cs typeface="Arial"/>
              </a:defRPr>
            </a:pPr>
            <a:r>
              <a:rPr sz="2175" b="0">
                <a:solidFill>
                  <a:srgbClr val="252D27"/>
                </a:solidFill>
                <a:latin typeface="Arial"/>
                <a:ea typeface="Arial"/>
                <a:cs typeface="Arial"/>
              </a:rPr>
              <a:t>Backend Compose starts Express and MySQL with one command.</a:t>
            </a:r>
          </a:p>
        </p:txBody>
      </p:sp>
      <p:sp>
        <p:nvSpPr>
          <p:cNvPr id="4" name="">
            <a:extLst xmlns:a="http://schemas.openxmlformats.org/drawingml/2006/main">
              <a:ext uri="{FF2B5EF4-FFF2-40B4-BE49-F238E27FC236}">
                <a16:creationId xmlns:a16="http://schemas.microsoft.com/office/drawing/2014/main" id="{A8F310E0-59F4-45FB-9D84-6366FD8489DA}"/>
              </a:ext>
            </a:extLst>
          </p:cNvPr>
          <p:cNvSpPr>
            <a:spLocks xmlns:a="http://schemas.openxmlformats.org/drawingml/2006/main" noGrp="1"/>
          </p:cNvSpPr>
          <p:nvPr/>
        </p:nvSpPr>
        <p:spPr>
          <a:xfrm xmlns:a="http://schemas.openxmlformats.org/drawingml/2006/main">
            <a:off x="685800" y="24955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52D27"/>
                </a:solidFill>
                <a:latin typeface="Arial"/>
                <a:ea typeface="Arial"/>
                <a:cs typeface="Arial"/>
              </a:defRPr>
            </a:defPPr>
          </a:lstStyle>
          <a:p xmlns:a="http://schemas.openxmlformats.org/drawingml/2006/main">
            <a:pPr>
              <a:defRPr sz="2175" b="0">
                <a:solidFill>
                  <a:srgbClr val="252D27"/>
                </a:solidFill>
                <a:latin typeface="Arial"/>
                <a:ea typeface="Arial"/>
                <a:cs typeface="Arial"/>
              </a:defRPr>
            </a:pPr>
            <a:r>
              <a:rPr sz="2175" b="0">
                <a:solidFill>
                  <a:srgbClr val="252D27"/>
                </a:solidFill>
                <a:latin typeface="Arial"/>
                <a:ea typeface="Arial"/>
                <a:cs typeface="Arial"/>
              </a:rPr>
              <a:t>Frontend has its own build and unprivileged Nginx container.</a:t>
            </a:r>
          </a:p>
        </p:txBody>
      </p:sp>
      <p:sp>
        <p:nvSpPr>
          <p:cNvPr id="5" name="">
            <a:extLst xmlns:a="http://schemas.openxmlformats.org/drawingml/2006/main">
              <a:ext uri="{FF2B5EF4-FFF2-40B4-BE49-F238E27FC236}">
                <a16:creationId xmlns:a16="http://schemas.microsoft.com/office/drawing/2014/main" id="{73BB0AE3-3C52-4389-9559-055800B92A32}"/>
              </a:ext>
            </a:extLst>
          </p:cNvPr>
          <p:cNvSpPr>
            <a:spLocks xmlns:a="http://schemas.openxmlformats.org/drawingml/2006/main" noGrp="1"/>
          </p:cNvSpPr>
          <p:nvPr/>
        </p:nvSpPr>
        <p:spPr>
          <a:xfrm xmlns:a="http://schemas.openxmlformats.org/drawingml/2006/main">
            <a:off x="685800" y="32766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52D27"/>
                </a:solidFill>
                <a:latin typeface="Arial"/>
                <a:ea typeface="Arial"/>
                <a:cs typeface="Arial"/>
              </a:defRPr>
            </a:defPPr>
          </a:lstStyle>
          <a:p xmlns:a="http://schemas.openxmlformats.org/drawingml/2006/main">
            <a:pPr>
              <a:defRPr sz="2175" b="0">
                <a:solidFill>
                  <a:srgbClr val="252D27"/>
                </a:solidFill>
                <a:latin typeface="Arial"/>
                <a:ea typeface="Arial"/>
                <a:cs typeface="Arial"/>
              </a:defRPr>
            </a:pPr>
            <a:r>
              <a:rPr sz="2175" b="0">
                <a:solidFill>
                  <a:srgbClr val="252D27"/>
                </a:solidFill>
                <a:latin typeface="Arial"/>
                <a:ea typeface="Arial"/>
                <a:cs typeface="Arial"/>
              </a:rPr>
              <a:t>The database health check runs before the API starts.</a:t>
            </a:r>
          </a:p>
        </p:txBody>
      </p:sp>
      <p:sp>
        <p:nvSpPr>
          <p:cNvPr id="6" name="">
            <a:extLst xmlns:a="http://schemas.openxmlformats.org/drawingml/2006/main">
              <a:ext uri="{FF2B5EF4-FFF2-40B4-BE49-F238E27FC236}">
                <a16:creationId xmlns:a16="http://schemas.microsoft.com/office/drawing/2014/main" id="{5A65E2EC-5176-40BB-A94A-704A18DE1001}"/>
              </a:ext>
            </a:extLst>
          </p:cNvPr>
          <p:cNvSpPr>
            <a:spLocks xmlns:a="http://schemas.openxmlformats.org/drawingml/2006/main" noGrp="1"/>
          </p:cNvSpPr>
          <p:nvPr/>
        </p:nvSpPr>
        <p:spPr>
          <a:xfrm xmlns:a="http://schemas.openxmlformats.org/drawingml/2006/main">
            <a:off x="685800" y="40576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52D27"/>
                </a:solidFill>
                <a:latin typeface="Arial"/>
                <a:ea typeface="Arial"/>
                <a:cs typeface="Arial"/>
              </a:defRPr>
            </a:defPPr>
          </a:lstStyle>
          <a:p xmlns:a="http://schemas.openxmlformats.org/drawingml/2006/main">
            <a:pPr>
              <a:defRPr sz="2175" b="0">
                <a:solidFill>
                  <a:srgbClr val="252D27"/>
                </a:solidFill>
                <a:latin typeface="Arial"/>
                <a:ea typeface="Arial"/>
                <a:cs typeface="Arial"/>
              </a:defRPr>
            </a:pPr>
            <a:r>
              <a:rPr sz="2175" b="0">
                <a:solidFill>
                  <a:srgbClr val="252D27"/>
                </a:solidFill>
                <a:latin typeface="Arial"/>
                <a:ea typeface="Arial"/>
                <a:cs typeface="Arial"/>
              </a:rPr>
              <a:t>Environment variables supply credentials and configuration.</a:t>
            </a:r>
          </a:p>
        </p:txBody>
      </p:sp>
      <p:sp>
        <p:nvSpPr>
          <p:cNvPr id="7" name="">
            <a:extLst xmlns:a="http://schemas.openxmlformats.org/drawingml/2006/main">
              <a:ext uri="{FF2B5EF4-FFF2-40B4-BE49-F238E27FC236}">
                <a16:creationId xmlns:a16="http://schemas.microsoft.com/office/drawing/2014/main" id="{653A4C70-32F7-4D80-9059-1804271440B4}"/>
              </a:ext>
            </a:extLst>
          </p:cNvPr>
          <p:cNvSpPr>
            <a:spLocks xmlns:a="http://schemas.openxmlformats.org/drawingml/2006/main" noGrp="1"/>
          </p:cNvSpPr>
          <p:nvPr/>
        </p:nvSpPr>
        <p:spPr>
          <a:xfrm xmlns:a="http://schemas.openxmlformats.org/drawingml/2006/main">
            <a:off x="685800" y="48387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52D27"/>
                </a:solidFill>
                <a:latin typeface="Arial"/>
                <a:ea typeface="Arial"/>
                <a:cs typeface="Arial"/>
              </a:defRPr>
            </a:defPPr>
          </a:lstStyle>
          <a:p xmlns:a="http://schemas.openxmlformats.org/drawingml/2006/main">
            <a:pPr>
              <a:defRPr sz="2175" b="0">
                <a:solidFill>
                  <a:srgbClr val="252D27"/>
                </a:solidFill>
                <a:latin typeface="Arial"/>
                <a:ea typeface="Arial"/>
                <a:cs typeface="Arial"/>
              </a:defRPr>
            </a:pPr>
            <a:r>
              <a:rPr sz="2175" b="0">
                <a:solidFill>
                  <a:srgbClr val="252D27"/>
                </a:solidFill>
                <a:latin typeface="Arial"/>
                <a:ea typeface="Arial"/>
                <a:cs typeface="Arial"/>
              </a:rPr>
              <a:t>A named volume preserves MySQL data across restarts.</a:t>
            </a:r>
          </a:p>
        </p:txBody>
      </p:sp>
      <p:sp>
        <p:nvSpPr>
          <p:cNvPr id="8" name="">
            <a:extLst xmlns:a="http://schemas.openxmlformats.org/drawingml/2006/main">
              <a:ext uri="{FF2B5EF4-FFF2-40B4-BE49-F238E27FC236}">
                <a16:creationId xmlns:a16="http://schemas.microsoft.com/office/drawing/2014/main" id="{1A162F33-7ECE-40FE-BA81-6149C60D9417}"/>
              </a:ext>
            </a:extLst>
          </p:cNvPr>
          <p:cNvSpPr>
            <a:spLocks xmlns:a="http://schemas.openxmlformats.org/drawingml/2006/main" noGrp="1"/>
          </p:cNvSpPr>
          <p:nvPr/>
        </p:nvSpPr>
        <p:spPr>
          <a:xfrm xmlns:a="http://schemas.openxmlformats.org/drawingml/2006/main">
            <a:off x="714375" y="5743575"/>
            <a:ext cx="952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31584B"/>
                </a:solidFill>
                <a:latin typeface="Arial"/>
                <a:ea typeface="Arial"/>
                <a:cs typeface="Arial"/>
              </a:defRPr>
            </a:defPPr>
          </a:lstStyle>
          <a:p xmlns:a="http://schemas.openxmlformats.org/drawingml/2006/main">
            <a:pPr>
              <a:defRPr sz="2025" b="1">
                <a:solidFill>
                  <a:srgbClr val="31584B"/>
                </a:solidFill>
                <a:latin typeface="Arial"/>
                <a:ea typeface="Arial"/>
                <a:cs typeface="Arial"/>
              </a:defRPr>
            </a:pPr>
            <a:r>
              <a:rPr sz="2025" b="1">
                <a:solidFill>
                  <a:srgbClr val="31584B"/>
                </a:solidFill>
                <a:latin typeface="Arial"/>
                <a:ea typeface="Arial"/>
                <a:cs typeface="Arial"/>
              </a:rPr>
              <a:t>docker compose up -d --build</a:t>
            </a:r>
          </a:p>
        </p:txBody>
      </p:sp>
    </p:spTree>
    <p:extLst>
      <p:ext uri="{BB962C8B-B14F-4D97-AF65-F5344CB8AC3E}">
        <p14:creationId xmlns:p14="http://schemas.microsoft.com/office/powerpoint/2010/main" val="2065758135"/>
      </p:ext>
    </p:extLst>
  </p:cSld>
</p:sld>
</file>

<file path=ppt/slides/slide8.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B62C1BA-F733-44E8-B99A-019CB7143E69}"/>
              </a:ext>
            </a:extLst>
          </p:cNvPr>
          <p:cNvSpPr>
            <a:spLocks xmlns:a="http://schemas.openxmlformats.org/drawingml/2006/main" noGrp="1"/>
          </p:cNvSpPr>
          <p:nvPr/>
        </p:nvSpPr>
        <p:spPr>
          <a:xfrm xmlns:a="http://schemas.openxmlformats.org/drawingml/2006/main">
            <a:off x="619125" y="5143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252D27"/>
                </a:solidFill>
                <a:latin typeface="Arial"/>
                <a:ea typeface="Arial"/>
                <a:cs typeface="Arial"/>
              </a:defRPr>
            </a:defPPr>
          </a:lstStyle>
          <a:p xmlns:a="http://schemas.openxmlformats.org/drawingml/2006/main">
            <a:pPr>
              <a:defRPr sz="3300" b="1">
                <a:solidFill>
                  <a:srgbClr val="252D27"/>
                </a:solidFill>
                <a:latin typeface="Arial"/>
                <a:ea typeface="Arial"/>
                <a:cs typeface="Arial"/>
              </a:defRPr>
            </a:pPr>
            <a:r>
              <a:rPr sz="3300" b="1">
                <a:solidFill>
                  <a:srgbClr val="252D27"/>
                </a:solidFill>
                <a:latin typeface="Arial"/>
                <a:ea typeface="Arial"/>
                <a:cs typeface="Arial"/>
              </a:rPr>
              <a:t>Demo and verification</a:t>
            </a:r>
          </a:p>
        </p:txBody>
      </p:sp>
      <p:sp>
        <p:nvSpPr>
          <p:cNvPr id="2" name="">
            <a:extLst xmlns:a="http://schemas.openxmlformats.org/drawingml/2006/main">
              <a:ext uri="{FF2B5EF4-FFF2-40B4-BE49-F238E27FC236}">
                <a16:creationId xmlns:a16="http://schemas.microsoft.com/office/drawing/2014/main" id="{0D7BDAE5-650F-4B97-B5F5-9ECB52078987}"/>
              </a:ext>
            </a:extLst>
          </p:cNvPr>
          <p:cNvSpPr>
            <a:spLocks xmlns:a="http://schemas.openxmlformats.org/drawingml/2006/main" noGrp="1"/>
          </p:cNvSpPr>
          <p:nvPr/>
        </p:nvSpPr>
        <p:spPr>
          <a:xfrm xmlns:a="http://schemas.openxmlformats.org/drawingml/2006/main">
            <a:off x="11144250" y="63341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2685F"/>
                </a:solidFill>
                <a:latin typeface="Arial"/>
                <a:ea typeface="Arial"/>
                <a:cs typeface="Arial"/>
              </a:defRPr>
            </a:defPPr>
          </a:lstStyle>
          <a:p xmlns:a="http://schemas.openxmlformats.org/drawingml/2006/main">
            <a:pPr>
              <a:defRPr sz="1200" b="0">
                <a:solidFill>
                  <a:srgbClr val="62685F"/>
                </a:solidFill>
                <a:latin typeface="Arial"/>
                <a:ea typeface="Arial"/>
                <a:cs typeface="Arial"/>
              </a:defRPr>
            </a:pPr>
            <a:r>
              <a:rPr sz="1200" b="0">
                <a:solidFill>
                  <a:srgbClr val="62685F"/>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D987858A-AD70-49EA-B521-1E65B7E0180E}"/>
              </a:ext>
            </a:extLst>
          </p:cNvPr>
          <p:cNvSpPr>
            <a:spLocks xmlns:a="http://schemas.openxmlformats.org/drawingml/2006/main" noGrp="1"/>
          </p:cNvSpPr>
          <p:nvPr/>
        </p:nvSpPr>
        <p:spPr>
          <a:xfrm xmlns:a="http://schemas.openxmlformats.org/drawingml/2006/main">
            <a:off x="685800" y="17145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52D27"/>
                </a:solidFill>
                <a:latin typeface="Arial"/>
                <a:ea typeface="Arial"/>
                <a:cs typeface="Arial"/>
              </a:defRPr>
            </a:defPPr>
          </a:lstStyle>
          <a:p xmlns:a="http://schemas.openxmlformats.org/drawingml/2006/main">
            <a:pPr>
              <a:defRPr sz="2175" b="0">
                <a:solidFill>
                  <a:srgbClr val="252D27"/>
                </a:solidFill>
                <a:latin typeface="Arial"/>
                <a:ea typeface="Arial"/>
                <a:cs typeface="Arial"/>
              </a:defRPr>
            </a:pPr>
            <a:r>
              <a:rPr sz="2175" b="0">
                <a:solidFill>
                  <a:srgbClr val="252D27"/>
                </a:solidFill>
                <a:latin typeface="Arial"/>
                <a:ea typeface="Arial"/>
                <a:cs typeface="Arial"/>
              </a:rPr>
              <a:t>Customer: register, filter the collection, rent and view history.</a:t>
            </a:r>
          </a:p>
        </p:txBody>
      </p:sp>
      <p:sp>
        <p:nvSpPr>
          <p:cNvPr id="4" name="">
            <a:extLst xmlns:a="http://schemas.openxmlformats.org/drawingml/2006/main">
              <a:ext uri="{FF2B5EF4-FFF2-40B4-BE49-F238E27FC236}">
                <a16:creationId xmlns:a16="http://schemas.microsoft.com/office/drawing/2014/main" id="{C296E210-A904-4914-97FE-A6C398BE4756}"/>
              </a:ext>
            </a:extLst>
          </p:cNvPr>
          <p:cNvSpPr>
            <a:spLocks xmlns:a="http://schemas.openxmlformats.org/drawingml/2006/main" noGrp="1"/>
          </p:cNvSpPr>
          <p:nvPr/>
        </p:nvSpPr>
        <p:spPr>
          <a:xfrm xmlns:a="http://schemas.openxmlformats.org/drawingml/2006/main">
            <a:off x="685800" y="24955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52D27"/>
                </a:solidFill>
                <a:latin typeface="Arial"/>
                <a:ea typeface="Arial"/>
                <a:cs typeface="Arial"/>
              </a:defRPr>
            </a:defPPr>
          </a:lstStyle>
          <a:p xmlns:a="http://schemas.openxmlformats.org/drawingml/2006/main">
            <a:pPr>
              <a:defRPr sz="2175" b="0">
                <a:solidFill>
                  <a:srgbClr val="252D27"/>
                </a:solidFill>
                <a:latin typeface="Arial"/>
                <a:ea typeface="Arial"/>
                <a:cs typeface="Arial"/>
              </a:defRPr>
            </a:pPr>
            <a:r>
              <a:rPr sz="2175" b="0">
                <a:solidFill>
                  <a:srgbClr val="252D27"/>
                </a:solidFill>
                <a:latin typeface="Arial"/>
                <a:ea typeface="Arial"/>
                <a:cs typeface="Arial"/>
              </a:rPr>
              <a:t>Admin: edit the catalog and confirm a physical return.</a:t>
            </a:r>
          </a:p>
        </p:txBody>
      </p:sp>
      <p:sp>
        <p:nvSpPr>
          <p:cNvPr id="5" name="">
            <a:extLst xmlns:a="http://schemas.openxmlformats.org/drawingml/2006/main">
              <a:ext uri="{FF2B5EF4-FFF2-40B4-BE49-F238E27FC236}">
                <a16:creationId xmlns:a16="http://schemas.microsoft.com/office/drawing/2014/main" id="{6E98ADB2-C5B3-44D4-803D-1490368C0D7A}"/>
              </a:ext>
            </a:extLst>
          </p:cNvPr>
          <p:cNvSpPr>
            <a:spLocks xmlns:a="http://schemas.openxmlformats.org/drawingml/2006/main" noGrp="1"/>
          </p:cNvSpPr>
          <p:nvPr/>
        </p:nvSpPr>
        <p:spPr>
          <a:xfrm xmlns:a="http://schemas.openxmlformats.org/drawingml/2006/main">
            <a:off x="685800" y="32766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52D27"/>
                </a:solidFill>
                <a:latin typeface="Arial"/>
                <a:ea typeface="Arial"/>
                <a:cs typeface="Arial"/>
              </a:defRPr>
            </a:defPPr>
          </a:lstStyle>
          <a:p xmlns:a="http://schemas.openxmlformats.org/drawingml/2006/main">
            <a:pPr>
              <a:defRPr sz="2175" b="0">
                <a:solidFill>
                  <a:srgbClr val="252D27"/>
                </a:solidFill>
                <a:latin typeface="Arial"/>
                <a:ea typeface="Arial"/>
                <a:cs typeface="Arial"/>
              </a:defRPr>
            </a:pPr>
            <a:r>
              <a:rPr sz="2175" b="0">
                <a:solidFill>
                  <a:srgbClr val="252D27"/>
                </a:solidFill>
                <a:latin typeface="Arial"/>
                <a:ea typeface="Arial"/>
                <a:cs typeface="Arial"/>
              </a:rPr>
              <a:t>Seven automated scenarios verify fees, permissions and races.</a:t>
            </a:r>
          </a:p>
        </p:txBody>
      </p:sp>
      <p:sp>
        <p:nvSpPr>
          <p:cNvPr id="6" name="">
            <a:extLst xmlns:a="http://schemas.openxmlformats.org/drawingml/2006/main">
              <a:ext uri="{FF2B5EF4-FFF2-40B4-BE49-F238E27FC236}">
                <a16:creationId xmlns:a16="http://schemas.microsoft.com/office/drawing/2014/main" id="{5C4AA072-DDE0-425D-9DE1-4D4920E63F87}"/>
              </a:ext>
            </a:extLst>
          </p:cNvPr>
          <p:cNvSpPr>
            <a:spLocks xmlns:a="http://schemas.openxmlformats.org/drawingml/2006/main" noGrp="1"/>
          </p:cNvSpPr>
          <p:nvPr/>
        </p:nvSpPr>
        <p:spPr>
          <a:xfrm xmlns:a="http://schemas.openxmlformats.org/drawingml/2006/main">
            <a:off x="685800" y="40576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52D27"/>
                </a:solidFill>
                <a:latin typeface="Arial"/>
                <a:ea typeface="Arial"/>
                <a:cs typeface="Arial"/>
              </a:defRPr>
            </a:defPPr>
          </a:lstStyle>
          <a:p xmlns:a="http://schemas.openxmlformats.org/drawingml/2006/main">
            <a:pPr>
              <a:defRPr sz="2175" b="0">
                <a:solidFill>
                  <a:srgbClr val="252D27"/>
                </a:solidFill>
                <a:latin typeface="Arial"/>
                <a:ea typeface="Arial"/>
                <a:cs typeface="Arial"/>
              </a:defRPr>
            </a:pPr>
            <a:r>
              <a:rPr sz="2175" b="0">
                <a:solidFill>
                  <a:srgbClr val="252D27"/>
                </a:solidFill>
                <a:latin typeface="Arial"/>
                <a:ea typeface="Arial"/>
                <a:cs typeface="Arial"/>
              </a:rPr>
              <a:t>Angular production build and Docker services pass local checks.</a:t>
            </a:r>
          </a:p>
        </p:txBody>
      </p:sp>
      <p:sp>
        <p:nvSpPr>
          <p:cNvPr id="7" name="">
            <a:extLst xmlns:a="http://schemas.openxmlformats.org/drawingml/2006/main">
              <a:ext uri="{FF2B5EF4-FFF2-40B4-BE49-F238E27FC236}">
                <a16:creationId xmlns:a16="http://schemas.microsoft.com/office/drawing/2014/main" id="{40E17EF5-10AD-47A5-9C14-A0B123C5A7A1}"/>
              </a:ext>
            </a:extLst>
          </p:cNvPr>
          <p:cNvSpPr>
            <a:spLocks xmlns:a="http://schemas.openxmlformats.org/drawingml/2006/main" noGrp="1"/>
          </p:cNvSpPr>
          <p:nvPr/>
        </p:nvSpPr>
        <p:spPr>
          <a:xfrm xmlns:a="http://schemas.openxmlformats.org/drawingml/2006/main">
            <a:off x="685800" y="48387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52D27"/>
                </a:solidFill>
                <a:latin typeface="Arial"/>
                <a:ea typeface="Arial"/>
                <a:cs typeface="Arial"/>
              </a:defRPr>
            </a:defPPr>
          </a:lstStyle>
          <a:p xmlns:a="http://schemas.openxmlformats.org/drawingml/2006/main">
            <a:pPr>
              <a:defRPr sz="2175" b="0">
                <a:solidFill>
                  <a:srgbClr val="252D27"/>
                </a:solidFill>
                <a:latin typeface="Arial"/>
                <a:ea typeface="Arial"/>
                <a:cs typeface="Arial"/>
              </a:defRPr>
            </a:pPr>
            <a:r>
              <a:rPr sz="2175" b="0">
                <a:solidFill>
                  <a:srgbClr val="252D27"/>
                </a:solidFill>
                <a:latin typeface="Arial"/>
                <a:ea typeface="Arial"/>
                <a:cs typeface="Arial"/>
              </a:rPr>
              <a:t>A browser demo connects the real frontend to the real API.</a:t>
            </a:r>
          </a:p>
        </p:txBody>
      </p:sp>
    </p:spTree>
    <p:extLst>
      <p:ext uri="{BB962C8B-B14F-4D97-AF65-F5344CB8AC3E}">
        <p14:creationId xmlns:p14="http://schemas.microsoft.com/office/powerpoint/2010/main" val="3492063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2026-10-09T08:35:38.8180000Z</dcterms:created>
  <dcterms:modified xsi:type="dcterms:W3CDTF">2026-10-09T08:35:38.8180000Z</dcterms:modified>
</coreProperties>
</file>